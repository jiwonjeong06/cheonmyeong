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91" r:id="rId6"/>
    <p:sldId id="261" r:id="rId7"/>
    <p:sldId id="293" r:id="rId8"/>
    <p:sldId id="278" r:id="rId9"/>
    <p:sldId id="290" r:id="rId10"/>
    <p:sldId id="263" r:id="rId11"/>
    <p:sldId id="264" r:id="rId12"/>
    <p:sldId id="279" r:id="rId13"/>
    <p:sldId id="280" r:id="rId14"/>
    <p:sldId id="281" r:id="rId15"/>
    <p:sldId id="282" r:id="rId16"/>
    <p:sldId id="283" r:id="rId17"/>
    <p:sldId id="266" r:id="rId18"/>
    <p:sldId id="285" r:id="rId19"/>
    <p:sldId id="286" r:id="rId20"/>
    <p:sldId id="273" r:id="rId21"/>
    <p:sldId id="275" r:id="rId22"/>
    <p:sldId id="267" r:id="rId23"/>
    <p:sldId id="292" r:id="rId24"/>
    <p:sldId id="289" r:id="rId25"/>
    <p:sldId id="294" r:id="rId26"/>
    <p:sldId id="295" r:id="rId27"/>
    <p:sldId id="296" r:id="rId28"/>
    <p:sldId id="297" r:id="rId29"/>
    <p:sldId id="271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FD402C9-C31D-4D49-A8E3-3401DDAD5F1D}">
          <p14:sldIdLst>
            <p14:sldId id="256"/>
            <p14:sldId id="257"/>
          </p14:sldIdLst>
        </p14:section>
        <p14:section name="우리 게임" id="{AACE5F1C-1FB1-B314-0AC1-5DC3C2568F99}">
          <p14:sldIdLst>
            <p14:sldId id="258"/>
            <p14:sldId id="259"/>
          </p14:sldIdLst>
        </p14:section>
        <p14:section name="시스템" id="{01654997-E26C-7A5D-970A-464E6547A591}">
          <p14:sldIdLst>
            <p14:sldId id="291"/>
          </p14:sldIdLst>
        </p14:section>
        <p14:section name="레퍼런스" id="{4B7F4CCD-19C9-B886-6775-6639FAD59760}">
          <p14:sldIdLst>
            <p14:sldId id="261"/>
            <p14:sldId id="293"/>
            <p14:sldId id="278"/>
            <p14:sldId id="290"/>
            <p14:sldId id="263"/>
            <p14:sldId id="264"/>
            <p14:sldId id="279"/>
            <p14:sldId id="280"/>
            <p14:sldId id="281"/>
            <p14:sldId id="282"/>
            <p14:sldId id="283"/>
            <p14:sldId id="266"/>
            <p14:sldId id="285"/>
            <p14:sldId id="286"/>
            <p14:sldId id="273"/>
            <p14:sldId id="275"/>
            <p14:sldId id="267"/>
            <p14:sldId id="292"/>
          </p14:sldIdLst>
        </p14:section>
        <p14:section name="개발과 목표" id="{E17CD509-719E-2968-E61D-95D0643A387D}">
          <p14:sldIdLst>
            <p14:sldId id="289"/>
            <p14:sldId id="294"/>
            <p14:sldId id="295"/>
            <p14:sldId id="296"/>
            <p14:sldId id="297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원 정" userId="430000aeb46d29c9" providerId="LiveId" clId="{8EFC1527-4766-41B2-B107-631D346E393B}"/>
    <pc:docChg chg="undo custSel delSld modSld sldOrd modSection">
      <pc:chgData name="지원 정" userId="430000aeb46d29c9" providerId="LiveId" clId="{8EFC1527-4766-41B2-B107-631D346E393B}" dt="2026-10-13T05:55:22.503" v="18" actId="255"/>
      <pc:docMkLst>
        <pc:docMk/>
      </pc:docMkLst>
      <pc:sldChg chg="delSp modSp mod">
        <pc:chgData name="지원 정" userId="430000aeb46d29c9" providerId="LiveId" clId="{8EFC1527-4766-41B2-B107-631D346E393B}" dt="2026-10-13T05:54:44.639" v="10" actId="478"/>
        <pc:sldMkLst>
          <pc:docMk/>
          <pc:sldMk cId="0" sldId="258"/>
        </pc:sldMkLst>
        <pc:spChg chg="mod">
          <ac:chgData name="지원 정" userId="430000aeb46d29c9" providerId="LiveId" clId="{8EFC1527-4766-41B2-B107-631D346E393B}" dt="2026-10-13T05:54:41.636" v="9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4:44.639" v="10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4:44.639" v="10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4:44.639" v="10" actId="478"/>
          <ac:spMkLst>
            <pc:docMk/>
            <pc:sldMk cId="0" sldId="258"/>
            <ac:spMk id="23" creationId="{00000000-0000-0000-0000-000000000000}"/>
          </ac:spMkLst>
        </pc:spChg>
        <pc:picChg chg="del">
          <ac:chgData name="지원 정" userId="430000aeb46d29c9" providerId="LiveId" clId="{8EFC1527-4766-41B2-B107-631D346E393B}" dt="2026-10-13T05:54:44.639" v="10" actId="478"/>
          <ac:picMkLst>
            <pc:docMk/>
            <pc:sldMk cId="0" sldId="258"/>
            <ac:picMk id="24" creationId="{00000000-0000-0000-0000-000000000000}"/>
          </ac:picMkLst>
        </pc:picChg>
        <pc:picChg chg="del">
          <ac:chgData name="지원 정" userId="430000aeb46d29c9" providerId="LiveId" clId="{8EFC1527-4766-41B2-B107-631D346E393B}" dt="2026-10-13T05:54:44.639" v="10" actId="478"/>
          <ac:picMkLst>
            <pc:docMk/>
            <pc:sldMk cId="0" sldId="258"/>
            <ac:picMk id="25" creationId="{00000000-0000-0000-0000-000000000000}"/>
          </ac:picMkLst>
        </pc:picChg>
      </pc:sldChg>
      <pc:sldChg chg="addSp delSp modSp mod">
        <pc:chgData name="지원 정" userId="430000aeb46d29c9" providerId="LiveId" clId="{8EFC1527-4766-41B2-B107-631D346E393B}" dt="2026-10-13T05:55:22.503" v="18" actId="255"/>
        <pc:sldMkLst>
          <pc:docMk/>
          <pc:sldMk cId="0" sldId="259"/>
        </pc:sldMkLst>
        <pc:spChg chg="add del mod">
          <ac:chgData name="지원 정" userId="430000aeb46d29c9" providerId="LiveId" clId="{8EFC1527-4766-41B2-B107-631D346E393B}" dt="2026-10-13T05:54:51.658" v="11" actId="478"/>
          <ac:spMkLst>
            <pc:docMk/>
            <pc:sldMk cId="0" sldId="259"/>
            <ac:spMk id="4" creationId="{32627BF2-EB9D-9623-62B3-95660DC3120F}"/>
          </ac:spMkLst>
        </pc:spChg>
        <pc:spChg chg="add mod">
          <ac:chgData name="지원 정" userId="430000aeb46d29c9" providerId="LiveId" clId="{8EFC1527-4766-41B2-B107-631D346E393B}" dt="2026-10-13T05:55:00.917" v="14" actId="1076"/>
          <ac:spMkLst>
            <pc:docMk/>
            <pc:sldMk cId="0" sldId="259"/>
            <ac:spMk id="6" creationId="{1AA035FB-B5C5-ADC0-0FA8-DBC08F34AF27}"/>
          </ac:spMkLst>
        </pc:spChg>
        <pc:spChg chg="add mod">
          <ac:chgData name="지원 정" userId="430000aeb46d29c9" providerId="LiveId" clId="{8EFC1527-4766-41B2-B107-631D346E393B}" dt="2026-10-13T05:55:22.503" v="18" actId="255"/>
          <ac:spMkLst>
            <pc:docMk/>
            <pc:sldMk cId="0" sldId="259"/>
            <ac:spMk id="8" creationId="{B3E50601-5E4B-E79D-6028-32B8D55F0DF1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30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35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43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44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49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52" creationId="{00000000-0000-0000-0000-000000000000}"/>
          </ac:spMkLst>
        </pc:spChg>
        <pc:spChg chg="del">
          <ac:chgData name="지원 정" userId="430000aeb46d29c9" providerId="LiveId" clId="{8EFC1527-4766-41B2-B107-631D346E393B}" dt="2026-10-13T05:52:25.318" v="4" actId="478"/>
          <ac:spMkLst>
            <pc:docMk/>
            <pc:sldMk cId="0" sldId="259"/>
            <ac:spMk id="57" creationId="{00000000-0000-0000-0000-000000000000}"/>
          </ac:spMkLst>
        </pc:spChg>
        <pc:picChg chg="add mod">
          <ac:chgData name="지원 정" userId="430000aeb46d29c9" providerId="LiveId" clId="{8EFC1527-4766-41B2-B107-631D346E393B}" dt="2026-10-13T05:55:12.726" v="17" actId="1076"/>
          <ac:picMkLst>
            <pc:docMk/>
            <pc:sldMk cId="0" sldId="259"/>
            <ac:picMk id="10" creationId="{E285513A-417D-5811-C0BD-07B0D87AE3A1}"/>
          </ac:picMkLst>
        </pc:picChg>
        <pc:picChg chg="add mod">
          <ac:chgData name="지원 정" userId="430000aeb46d29c9" providerId="LiveId" clId="{8EFC1527-4766-41B2-B107-631D346E393B}" dt="2026-10-13T05:55:12.726" v="17" actId="1076"/>
          <ac:picMkLst>
            <pc:docMk/>
            <pc:sldMk cId="0" sldId="259"/>
            <ac:picMk id="12" creationId="{9B1CAD8B-04AA-F51E-7D71-21C71A60EE2F}"/>
          </ac:picMkLst>
        </pc:picChg>
        <pc:picChg chg="mod">
          <ac:chgData name="지원 정" userId="430000aeb46d29c9" providerId="LiveId" clId="{8EFC1527-4766-41B2-B107-631D346E393B}" dt="2026-10-13T05:54:55.924" v="13" actId="1076"/>
          <ac:picMkLst>
            <pc:docMk/>
            <pc:sldMk cId="0" sldId="259"/>
            <ac:picMk id="34" creationId="{00000000-0000-0000-0000-000000000000}"/>
          </ac:picMkLst>
        </pc:picChg>
      </pc:sldChg>
      <pc:sldChg chg="modSp mod">
        <pc:chgData name="지원 정" userId="430000aeb46d29c9" providerId="LiveId" clId="{8EFC1527-4766-41B2-B107-631D346E393B}" dt="2026-10-13T04:12:56.554" v="2" actId="14100"/>
        <pc:sldMkLst>
          <pc:docMk/>
          <pc:sldMk cId="0" sldId="261"/>
        </pc:sldMkLst>
        <pc:spChg chg="mod">
          <ac:chgData name="지원 정" userId="430000aeb46d29c9" providerId="LiveId" clId="{8EFC1527-4766-41B2-B107-631D346E393B}" dt="2026-10-13T04:12:56.554" v="2" actId="14100"/>
          <ac:spMkLst>
            <pc:docMk/>
            <pc:sldMk cId="0" sldId="261"/>
            <ac:spMk id="4" creationId="{00000000-0000-0000-0000-000000000000}"/>
          </ac:spMkLst>
        </pc:spChg>
      </pc:sldChg>
      <pc:sldChg chg="del">
        <pc:chgData name="지원 정" userId="430000aeb46d29c9" providerId="LiveId" clId="{8EFC1527-4766-41B2-B107-631D346E393B}" dt="2026-10-13T04:13:47" v="3" actId="47"/>
        <pc:sldMkLst>
          <pc:docMk/>
          <pc:sldMk cId="0" sldId="288"/>
        </pc:sldMkLst>
      </pc:sldChg>
      <pc:sldChg chg="ord">
        <pc:chgData name="지원 정" userId="430000aeb46d29c9" providerId="LiveId" clId="{8EFC1527-4766-41B2-B107-631D346E393B}" dt="2026-10-13T04:12:46.346" v="1"/>
        <pc:sldMkLst>
          <pc:docMk/>
          <pc:sldMk cId="0" sldId="29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출시 수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B4A6B"/>
              </a:solidFill>
            </c:spPr>
            <c:extLst>
              <c:ext xmlns:c16="http://schemas.microsoft.com/office/drawing/2014/chart" uri="{C3380CC4-5D6E-409C-BE32-E72D297353CC}">
                <c16:uniqueId val="{00000001-54D7-482E-BB69-77B757B8F4F9}"/>
              </c:ext>
            </c:extLst>
          </c:dPt>
          <c:dPt>
            <c:idx val="1"/>
            <c:invertIfNegative val="1"/>
            <c:bubble3D val="0"/>
            <c:spPr>
              <a:solidFill>
                <a:srgbClr val="3B4A6B"/>
              </a:solidFill>
            </c:spPr>
            <c:extLst>
              <c:ext xmlns:c16="http://schemas.microsoft.com/office/drawing/2014/chart" uri="{C3380CC4-5D6E-409C-BE32-E72D297353CC}">
                <c16:uniqueId val="{00000003-54D7-482E-BB69-77B757B8F4F9}"/>
              </c:ext>
            </c:extLst>
          </c:dPt>
          <c:dPt>
            <c:idx val="2"/>
            <c:invertIfNegative val="1"/>
            <c:bubble3D val="0"/>
            <c:spPr>
              <a:solidFill>
                <a:srgbClr val="3B4A6B"/>
              </a:solidFill>
            </c:spPr>
            <c:extLst>
              <c:ext xmlns:c16="http://schemas.microsoft.com/office/drawing/2014/chart" uri="{C3380CC4-5D6E-409C-BE32-E72D297353CC}">
                <c16:uniqueId val="{00000005-54D7-482E-BB69-77B757B8F4F9}"/>
              </c:ext>
            </c:extLst>
          </c:dPt>
          <c:dPt>
            <c:idx val="3"/>
            <c:invertIfNegative val="1"/>
            <c:bubble3D val="0"/>
            <c:spPr>
              <a:solidFill>
                <a:srgbClr val="B3262E"/>
              </a:solidFill>
            </c:spPr>
            <c:extLst>
              <c:ext xmlns:c16="http://schemas.microsoft.com/office/drawing/2014/chart" uri="{C3380CC4-5D6E-409C-BE32-E72D297353CC}">
                <c16:uniqueId val="{00000007-54D7-482E-BB69-77B757B8F4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03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37</c:v>
                </c:pt>
                <c:pt idx="2">
                  <c:v>69</c:v>
                </c:pt>
                <c:pt idx="3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D7-482E-BB69-77B757B8F4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5DE"/>
            </a:solidFill>
          </a:ln>
        </c:spPr>
        <c:txPr>
          <a:bodyPr/>
          <a:lstStyle/>
          <a:p>
            <a:pPr>
              <a:defRPr sz="1300">
                <a:solidFill>
                  <a:srgbClr val="7C869B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36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이름과 게임 이름만 말하고 바로 넘어갑니다. 한 줄 소개는 다음 장 개요에서 다시 말하지 않도록 여기서만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임예섭이 PD와 프로그래밍, 정지원이 프로그래밍과 아트, 박진명이 기획을 맡고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읽지 말고 장르와 한 판 시간만 짚습니다. 자세한 구조는 게임 플로우에서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실제 플레이 화면 목업입니다. 왼쪽 위는 두 사람의 체력, 가운데는 웨이브와 남은 시간, 그 아래 원한 게이지입니다. 맨 위 하늘색 바는 둘이 함께 채우는 영혼, 즉 경험치이고, 오른쪽 위는 내가 주운 엽전, 왼쪽 아래는 고른 증강 6칸입니다.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뱀서라이크 시장은 Steam에서만 2022년 17개에서 2025년 103개로 4년 만에 약 6배 커졌습니다. 레퍼런스로 삼은 뱀파이어 서바이버는 모바일 출시 한 달 만에 300만 다운로드를 넘겼고, 탕탕특공대는 누적 인앱 매출이 5억 달러를 넘었습니다. 저희는 이 커지는 장르에서 2인 협동으로 차별화합니다.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레퍼런스는 장르를 대중화한 두 게임입니다. 뱀파이어 서바이버는 수천 마리 괴물을 쓸어내는 생존 액션이고, 탕탕특공대는 한 손 조작의 로그라이크 액션입니다.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게임이 많이 팔린 이유입니다. 뱀파이어 서바이버는 3달러에 무료 체험판이 있어 시작이 쉽고, 이동만 하는 조작과 10~20분짜리 짧은 판, 해금할 거리가 많아 한 판 더 하게 만듭니다. 방송으로 크게 퍼져 Twitch 시청자가 최대 약 14만 명이었습니다. 탕탕특공대는 무료 모바일에 한 손 조작이고, TikTok 광고로 크게 퍼진 첫 성공 사례로 꼽힙니다. 아처로로 자동 공격을 검증한 Habby의 다음 작품이었고, 출시 후 차트 504위에서 1위까지 올랐습니다. 공통점은 쉽게 시작하고, 짧게 끝나고, 보고 싶어진다는 것입니다. 천명도 이 조건 위에 2인 협동을 더합니다.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뱀파이어 서바이버에서는 자동 공격, 쏟아지는 적, 레벨업 때 3장 중 1장을 고르는 방식을 가져왔습니다. 천명에서는 둘이 함께 멈추고 각자 고릅니다. 탕탕특공대에서는 이동만 하는 쉬운 조작과 판 밖 성장을 가져왔고, 천명에서는 엽전으로 캐릭터를 해금하고 스킬트리를 키웁니다.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천명의 핵심 특징은 두 가지입니다. 첫째, 무당이 사인검, 부적, 신칼, 부채 같은 실제 무구로 싸우고, 무구마다 공격 방식과 이펙트가 다릅니다. 둘째, 협동 플레이입니다. 보스에게 잡힌 동료는 다른 동료만 풀어줄 수 있고, 쓰러지면 남은 동료가 버텨야 부활합니다. 그렇게 끝까지 버틴 두 사람이 함께 보스를 봉인합니다.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기존 뱀서라이크는 협동해도 각자 싸웁니다. 천명은 혼자서는 다 막을 수 없을 만큼 원귀가 몰려오고, 쓰러져도 동료가 버티면 웨이브 끝에 돌아옵니다. 놓친 원귀는 원한이 되어 보스를 키우고, 최종전에는 부활이 없어서 서로를 지키는 것이 곧 공략입니다.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 판은 약 35분이고 3분짜리 웨이브가 10번 이어집니다. 5웨이브에 보스 억쇠가 처음 나타나고, 10웨이브가 끝나면 억쇠와 최종전을 치릅니다. 억쇠를 봉인하면 클리어입니다.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 웨이브는 3분입니다. 원귀가 사방에서 몰려오고, 3분 동안 쓸어내며 영혼을 줍습니다. 시간이 끝나면 징이 울리고, 남은 원귀는 원한으로 쌓입니다. 그 순간 쓰러진 동료가 부활하고 체력이 조금 회복됩니다.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조작은 이동만 합니다. 공격은 자동으로 나가고, 방향은 마우스로 정합니다. 하영은 칼을 휘두르고 한주원은 부적을 날리는 것처럼 캐릭터마다 무기가 다릅니다.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체력이 다 떨어지면 쓰러지는 모션이 나오고 조작할 수 없습니다. 그때부터는 FPS 게임처럼 동료의 화면을 관전합니다. 동료가 그 웨이브를 버텨서 징이 울리면 체력 30%로 부활합니다. 최종전에는 부활이 없고, 둘 다 쓰러지면 게임 오버입니다.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웨이브가 끝났을 때 남은 원귀는 한 마리당 원한 1로 쌓입니다. 원한 게이지는 늘 화면 위에 보이고, 원한이 짙을수록 최종전의 억쇠가 빨라지고 새 공격이 붙습니다.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원귀는 세 종류입니다. 몽달귀는 떼로 몰려오고, 달걀귀신은 빠르게 돌진하고, 손각시는 단단한 정예입니다. 세 종류 모두 1웨이브부터 섞여 나오고, 종마다 외형을 3가지씩 그렸습니다.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캐릭터는 한 명씩 소개하지 않고 싸우는 방식으로 묶었습니다. 처음에는 하영만 쓸 수 있고 나머지는 엽전으로 해금하며, 둘이 같은 캐릭터를 골라도 됩니다. 모든 캐릭터는 동료에게 효과가 나는 고유 패시브를 하나씩 가집니다. 공격은 모두 마우스 방향으로 자동 발동합니다.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판 안에서는 영혼을 공유해서 둘이 함께 레벨업합니다. 레벨업하면 게임이 멈추고, 각자 증강 카드 3장 중 1장을 고릅니다. 증강은 공통, 전용, 일회용 세 종류이고, 최대 6칸을 5단계까지 키웁니다.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판 밖에서는 모은 엽전을 씁니다. 처음에는 하영만 쓸 수 있고, 나머지 일곱 명은 엽전으로 해금합니다. 스킬트리는 갈래를 하나 고르면 반대쪽이 잠겨서, 같은 캐릭터도 사람마다 다르게 큽니다.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보스는 외다리 거구 도깨비 억쇠입니다. 5웨이브에 약한 모습으로 먼저 나와 패턴을 보여주고, 최종전에서 본 실력으로 싸웁니다. 쓰러뜨리면 낡은 빗자루로 돌아가며 봉인됩니다.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무대는 늘 밤인 폐장터입니다. 직접 만든 타일 21종으로 40×40칸 맵을 구성했습니다. 가운데 박석 광장은 억쇠가 나타나는 보스전 공간이고, 네 귀퉁이 장터는 싸리 울타리와 멍석으로 꾸몄습니다. 디딤돌 십자길이 광장과 장터를 잇고, 테두리는 흙돌담과 대숲으로 막혀 있습니다. 두 플레이어는 남쪽 입구에서 시작합니다.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아트는 무당의 오색과 밤의 어두운 톤으로 잡았습니다. 깊은 남색 밤 위에 청적황백흑 오색 무복과 초롱 불빛이 떠오르고, 원귀는 차갑게 빛나 한눈에 구분됩니다. 무구와 복식은 고증을 바탕으로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타이틀 화면은 대문이 열리며 시작합니다. 로비에서는 캐릭터가 직접 걸어 다니고, 건물이 곧 메뉴입니다. 큰 전각은 게임 시작, 상점은 스킬과 캐릭터, 게시판은 스토리 저장소입니다. 건물에 다가가면 흰 테두리가 생기고, 상호작용하면 들어갑니다.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프로토타입 화면입니다. 로비와 캐릭터 선택, 그리고 그래픽을 붙이기 전의 인게임 이동, 자동 공격, 레벨업이 동작합니다.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프로토타입 화면입니다. 로비와 캐릭터 선택, 그리고 그래픽을 붙이기 전의 인게임 이동, 자동 공격, 레벨업이 동작합니다.</a:t>
            </a:r>
          </a:p>
        </p:txBody>
      </p:sp>
    </p:spTree>
    <p:extLst>
      <p:ext uri="{BB962C8B-B14F-4D97-AF65-F5344CB8AC3E}">
        <p14:creationId xmlns:p14="http://schemas.microsoft.com/office/powerpoint/2010/main" val="6835762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프로토타입 화면입니다. 로비와 캐릭터 선택, 그리고 그래픽을 붙이기 전의 인게임 이동, 자동 공격, 레벨업이 동작합니다.</a:t>
            </a:r>
          </a:p>
        </p:txBody>
      </p:sp>
    </p:spTree>
    <p:extLst>
      <p:ext uri="{BB962C8B-B14F-4D97-AF65-F5344CB8AC3E}">
        <p14:creationId xmlns:p14="http://schemas.microsoft.com/office/powerpoint/2010/main" val="39406756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프로토타입 화면입니다. 로비와 캐릭터 선택, 그리고 그래픽을 붙이기 전의 인게임 이동, 자동 공격, 레벨업이 동작합니다.</a:t>
            </a:r>
          </a:p>
        </p:txBody>
      </p:sp>
    </p:spTree>
    <p:extLst>
      <p:ext uri="{BB962C8B-B14F-4D97-AF65-F5344CB8AC3E}">
        <p14:creationId xmlns:p14="http://schemas.microsoft.com/office/powerpoint/2010/main" val="1578390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프로토타입 화면입니다. 로비와 캐릭터 선택, 그리고 그래픽을 붙이기 전의 인게임 이동, 자동 공격, 레벨업이 동작합니다.</a:t>
            </a:r>
          </a:p>
        </p:txBody>
      </p:sp>
    </p:spTree>
    <p:extLst>
      <p:ext uri="{BB962C8B-B14F-4D97-AF65-F5344CB8AC3E}">
        <p14:creationId xmlns:p14="http://schemas.microsoft.com/office/powerpoint/2010/main" val="5540731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store.steampowered.com/app/1794680/Vampire_Survivors/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obilegamer.biz/two-months-in-survivor-io-passes-75m-from-37m-downloads/" TargetMode="External"/><Relationship Id="rId5" Type="http://schemas.openxmlformats.org/officeDocument/2006/relationships/hyperlink" Target="https://apps.apple.com/kr/app/%ED%83%95%ED%83%95%ED%8A%B9%EA%B3%B5%EB%8C%80/id1528941310" TargetMode="External"/><Relationship Id="rId4" Type="http://schemas.openxmlformats.org/officeDocument/2006/relationships/hyperlink" Target="https://www.guinnessworldrecords.com/world-records/777430-first-videogame-by-a-solo-developer-to-win-the-best-game-baft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44.png"/><Relationship Id="rId10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_kicker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300" dirty="0">
                <a:solidFill>
                  <a:schemeClr val="accent6"/>
                </a:solidFill>
              </a:rPr>
              <a:t>GAME PROPOSAL  ·  게임 소개서</a:t>
            </a:r>
            <a:endParaRPr lang="en-US" sz="1400" dirty="0"/>
          </a:p>
        </p:txBody>
      </p:sp>
      <p:sp>
        <p:nvSpPr>
          <p:cNvPr id="3" name="cover_title"/>
          <p:cNvSpPr txBox="1"/>
          <p:nvPr/>
        </p:nvSpPr>
        <p:spPr>
          <a:xfrm>
            <a:off x="731520" y="1467713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천명</a:t>
            </a:r>
            <a:endParaRPr lang="en-US" sz="8800" dirty="0"/>
          </a:p>
        </p:txBody>
      </p:sp>
      <p:sp>
        <p:nvSpPr>
          <p:cNvPr id="5" name="cover_genre"/>
          <p:cNvSpPr txBox="1"/>
          <p:nvPr/>
        </p:nvSpPr>
        <p:spPr>
          <a:xfrm>
            <a:off x="73152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조선 퇴마  ·  2인 협동 뱀서라이크</a:t>
            </a:r>
            <a:endParaRPr lang="en-US" sz="1600" dirty="0"/>
          </a:p>
        </p:txBody>
      </p:sp>
      <p:sp>
        <p:nvSpPr>
          <p:cNvPr id="6" name="cover_team"/>
          <p:cNvSpPr txBox="1"/>
          <p:nvPr/>
        </p:nvSpPr>
        <p:spPr>
          <a:xfrm>
            <a:off x="73152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TEAM  박진감 넘치는 예섭이의 지원요청</a:t>
            </a:r>
            <a:endParaRPr lang="en-US" sz="1200" dirty="0"/>
          </a:p>
        </p:txBody>
      </p:sp>
      <p:pic>
        <p:nvPicPr>
          <p:cNvPr id="7" name="cover_ChoiHwanjo" descr="/tmp/claude-0/-home-claude/d5f48452-305e-51fe-9a7c-9dfa0c30073e/scratchpad/deck/a/ChoiHwan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663440"/>
            <a:ext cx="947057" cy="1325880"/>
          </a:xfrm>
          <a:prstGeom prst="rect">
            <a:avLst/>
          </a:prstGeom>
        </p:spPr>
      </p:pic>
      <p:pic>
        <p:nvPicPr>
          <p:cNvPr id="8" name="cover_LeeAra" descr="/tmp/claude-0/-home-claude/d5f48452-305e-51fe-9a7c-9dfa0c30073e/scratchpad/deck/a/LeeA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265" y="4663440"/>
            <a:ext cx="636422" cy="1325880"/>
          </a:xfrm>
          <a:prstGeom prst="rect">
            <a:avLst/>
          </a:prstGeom>
        </p:spPr>
      </p:pic>
      <p:pic>
        <p:nvPicPr>
          <p:cNvPr id="9" name="cover_ParkKyuhyuk" descr="/tmp/claude-0/-home-claude/d5f48452-305e-51fe-9a7c-9dfa0c30073e/scratchpad/deck/a/ParkKyuhyu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416" y="4663440"/>
            <a:ext cx="891956" cy="1325880"/>
          </a:xfrm>
          <a:prstGeom prst="rect">
            <a:avLst/>
          </a:prstGeom>
        </p:spPr>
      </p:pic>
      <p:pic>
        <p:nvPicPr>
          <p:cNvPr id="10" name="cover_HaYoung" descr="/tmp/claude-0/-home-claude/d5f48452-305e-51fe-9a7c-9dfa0c30073e/scratchpad/deck/a/HaYou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099" y="4663440"/>
            <a:ext cx="1068822" cy="1325880"/>
          </a:xfrm>
          <a:prstGeom prst="rect">
            <a:avLst/>
          </a:prstGeom>
        </p:spPr>
      </p:pic>
      <p:pic>
        <p:nvPicPr>
          <p:cNvPr id="11" name="cover_HanJuwon" descr="/tmp/claude-0/-home-claude/d5f48452-305e-51fe-9a7c-9dfa0c30073e/scratchpad/deck/a/HanJuw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649" y="4663440"/>
            <a:ext cx="790662" cy="1325880"/>
          </a:xfrm>
          <a:prstGeom prst="rect">
            <a:avLst/>
          </a:prstGeom>
        </p:spPr>
      </p:pic>
      <p:pic>
        <p:nvPicPr>
          <p:cNvPr id="12" name="cover_ShinJihyun" descr="/tmp/claude-0/-home-claude/d5f48452-305e-51fe-9a7c-9dfa0c30073e/scratchpad/deck/a/ShinJihyu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4039" y="4663440"/>
            <a:ext cx="793354" cy="1325880"/>
          </a:xfrm>
          <a:prstGeom prst="rect">
            <a:avLst/>
          </a:prstGeom>
        </p:spPr>
      </p:pic>
      <p:pic>
        <p:nvPicPr>
          <p:cNvPr id="13" name="cover_LimHoon" descr="/tmp/claude-0/-home-claude/d5f48452-305e-51fe-9a7c-9dfa0c30073e/scratchpad/deck/a/LimHo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7122" y="4663440"/>
            <a:ext cx="771421" cy="1325880"/>
          </a:xfrm>
          <a:prstGeom prst="rect">
            <a:avLst/>
          </a:prstGeom>
        </p:spPr>
      </p:pic>
      <p:pic>
        <p:nvPicPr>
          <p:cNvPr id="14" name="cover_ShimYeore" descr="/tmp/claude-0/-home-claude/d5f48452-305e-51fe-9a7c-9dfa0c30073e/scratchpad/deck/a/ShimYe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271" y="4663440"/>
            <a:ext cx="1038189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팀원 소개</a:t>
            </a:r>
            <a:endParaRPr lang="en-US" sz="3200" dirty="0"/>
          </a:p>
        </p:txBody>
      </p:sp>
      <p:sp>
        <p:nvSpPr>
          <p:cNvPr id="3" name="team_name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박진감 넘치는 예섭이의 지원요청</a:t>
            </a:r>
            <a:endParaRPr lang="en-US" sz="1600" dirty="0"/>
          </a:p>
        </p:txBody>
      </p:sp>
      <p:sp>
        <p:nvSpPr>
          <p:cNvPr id="4" name="member_card_0"/>
          <p:cNvSpPr/>
          <p:nvPr/>
        </p:nvSpPr>
        <p:spPr>
          <a:xfrm>
            <a:off x="563728" y="201168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member_name_0"/>
          <p:cNvSpPr txBox="1"/>
          <p:nvPr/>
        </p:nvSpPr>
        <p:spPr>
          <a:xfrm>
            <a:off x="563728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임예섭</a:t>
            </a:r>
            <a:endParaRPr lang="en-US" sz="2600" dirty="0"/>
          </a:p>
        </p:txBody>
      </p:sp>
      <p:sp>
        <p:nvSpPr>
          <p:cNvPr id="8" name="member_role_0"/>
          <p:cNvSpPr txBox="1"/>
          <p:nvPr/>
        </p:nvSpPr>
        <p:spPr>
          <a:xfrm>
            <a:off x="563728" y="4343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PD · 프로그래밍</a:t>
            </a:r>
            <a:endParaRPr lang="en-US" sz="1800" dirty="0"/>
          </a:p>
        </p:txBody>
      </p:sp>
      <p:sp>
        <p:nvSpPr>
          <p:cNvPr id="9" name="member_id_0"/>
          <p:cNvSpPr txBox="1"/>
          <p:nvPr/>
        </p:nvSpPr>
        <p:spPr>
          <a:xfrm>
            <a:off x="563728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2025038034</a:t>
            </a:r>
            <a:endParaRPr lang="en-US" sz="1400" dirty="0"/>
          </a:p>
        </p:txBody>
      </p:sp>
      <p:sp>
        <p:nvSpPr>
          <p:cNvPr id="10" name="member_card_1"/>
          <p:cNvSpPr/>
          <p:nvPr/>
        </p:nvSpPr>
        <p:spPr>
          <a:xfrm>
            <a:off x="4404208" y="201168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member_name_1"/>
          <p:cNvSpPr txBox="1"/>
          <p:nvPr/>
        </p:nvSpPr>
        <p:spPr>
          <a:xfrm>
            <a:off x="4404208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정지원</a:t>
            </a:r>
            <a:endParaRPr lang="en-US" sz="2600" dirty="0"/>
          </a:p>
        </p:txBody>
      </p:sp>
      <p:sp>
        <p:nvSpPr>
          <p:cNvPr id="14" name="member_role_1"/>
          <p:cNvSpPr txBox="1"/>
          <p:nvPr/>
        </p:nvSpPr>
        <p:spPr>
          <a:xfrm>
            <a:off x="4404208" y="4343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800" dirty="0">
                <a:solidFill>
                  <a:schemeClr val="accent1"/>
                </a:solidFill>
              </a:rPr>
              <a:t>기획</a:t>
            </a:r>
            <a:r>
              <a:rPr lang="en-US" sz="1800" dirty="0">
                <a:solidFill>
                  <a:schemeClr val="accent1"/>
                </a:solidFill>
              </a:rPr>
              <a:t> · 아트</a:t>
            </a:r>
            <a:endParaRPr lang="en-US" sz="1800" dirty="0"/>
          </a:p>
        </p:txBody>
      </p:sp>
      <p:sp>
        <p:nvSpPr>
          <p:cNvPr id="15" name="member_id_1"/>
          <p:cNvSpPr txBox="1"/>
          <p:nvPr/>
        </p:nvSpPr>
        <p:spPr>
          <a:xfrm>
            <a:off x="4404208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2025038001</a:t>
            </a:r>
            <a:endParaRPr lang="en-US" sz="1400" dirty="0"/>
          </a:p>
        </p:txBody>
      </p:sp>
      <p:sp>
        <p:nvSpPr>
          <p:cNvPr id="16" name="member_card_2"/>
          <p:cNvSpPr/>
          <p:nvPr/>
        </p:nvSpPr>
        <p:spPr>
          <a:xfrm>
            <a:off x="8244688" y="201168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member_name_2"/>
          <p:cNvSpPr txBox="1"/>
          <p:nvPr/>
        </p:nvSpPr>
        <p:spPr>
          <a:xfrm>
            <a:off x="8244688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박진명</a:t>
            </a:r>
            <a:endParaRPr lang="en-US" sz="2600" dirty="0"/>
          </a:p>
        </p:txBody>
      </p:sp>
      <p:sp>
        <p:nvSpPr>
          <p:cNvPr id="20" name="member_role_2"/>
          <p:cNvSpPr txBox="1"/>
          <p:nvPr/>
        </p:nvSpPr>
        <p:spPr>
          <a:xfrm>
            <a:off x="8244688" y="4343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기획</a:t>
            </a:r>
            <a:endParaRPr lang="en-US" sz="1800" dirty="0"/>
          </a:p>
        </p:txBody>
      </p:sp>
      <p:sp>
        <p:nvSpPr>
          <p:cNvPr id="21" name="member_id_2"/>
          <p:cNvSpPr txBox="1"/>
          <p:nvPr/>
        </p:nvSpPr>
        <p:spPr>
          <a:xfrm>
            <a:off x="8244688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2025038011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3" name="Image 0" descr="u/ppt/media/image1.png">
            <a:extLst>
              <a:ext uri="{FF2B5EF4-FFF2-40B4-BE49-F238E27FC236}">
                <a16:creationId xmlns:a16="http://schemas.microsoft.com/office/drawing/2014/main" id="{0A7FFA73-667D-1676-81D5-97F19B77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8" y="2578608"/>
            <a:ext cx="1097280" cy="1078992"/>
          </a:xfrm>
          <a:prstGeom prst="rect">
            <a:avLst/>
          </a:prstGeom>
        </p:spPr>
      </p:pic>
      <p:pic>
        <p:nvPicPr>
          <p:cNvPr id="26" name="Image 1" descr="u/ppt/media/image3.png">
            <a:extLst>
              <a:ext uri="{FF2B5EF4-FFF2-40B4-BE49-F238E27FC236}">
                <a16:creationId xmlns:a16="http://schemas.microsoft.com/office/drawing/2014/main" id="{DFE5C7DA-D626-4877-1F80-86F895B19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208" y="2569464"/>
            <a:ext cx="1097280" cy="1078992"/>
          </a:xfrm>
          <a:prstGeom prst="rect">
            <a:avLst/>
          </a:prstGeom>
        </p:spPr>
      </p:pic>
      <p:pic>
        <p:nvPicPr>
          <p:cNvPr id="28" name="Image 2" descr="u/ppt/media/image4.png">
            <a:extLst>
              <a:ext uri="{FF2B5EF4-FFF2-40B4-BE49-F238E27FC236}">
                <a16:creationId xmlns:a16="http://schemas.microsoft.com/office/drawing/2014/main" id="{014E2E65-34DE-7CA7-1202-CAD0E46B2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688" y="2569464"/>
            <a:ext cx="1097280" cy="1078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개요</a:t>
            </a:r>
            <a:endParaRPr lang="en-US" sz="3200" dirty="0"/>
          </a:p>
        </p:txBody>
      </p:sp>
      <p:sp>
        <p:nvSpPr>
          <p:cNvPr id="3" name="ov_row_bg_0"/>
          <p:cNvSpPr/>
          <p:nvPr/>
        </p:nvSpPr>
        <p:spPr>
          <a:xfrm>
            <a:off x="548640" y="1463040"/>
            <a:ext cx="6583680" cy="566928"/>
          </a:xfrm>
          <a:prstGeom prst="rect">
            <a:avLst/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ov_key_0"/>
          <p:cNvSpPr txBox="1"/>
          <p:nvPr/>
        </p:nvSpPr>
        <p:spPr>
          <a:xfrm>
            <a:off x="777240" y="1463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장르</a:t>
            </a:r>
            <a:endParaRPr lang="en-US" sz="1600" dirty="0"/>
          </a:p>
        </p:txBody>
      </p:sp>
      <p:sp>
        <p:nvSpPr>
          <p:cNvPr id="5" name="ov_val_0"/>
          <p:cNvSpPr txBox="1"/>
          <p:nvPr/>
        </p:nvSpPr>
        <p:spPr>
          <a:xfrm>
            <a:off x="2606040" y="146304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2인 협동 뱀서라이크</a:t>
            </a:r>
            <a:endParaRPr lang="en-US" sz="1600" dirty="0"/>
          </a:p>
        </p:txBody>
      </p:sp>
      <p:sp>
        <p:nvSpPr>
          <p:cNvPr id="6" name="ov_key_1"/>
          <p:cNvSpPr txBox="1"/>
          <p:nvPr/>
        </p:nvSpPr>
        <p:spPr>
          <a:xfrm>
            <a:off x="777240" y="20299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시점</a:t>
            </a:r>
            <a:endParaRPr lang="en-US" sz="1600" dirty="0"/>
          </a:p>
        </p:txBody>
      </p:sp>
      <p:sp>
        <p:nvSpPr>
          <p:cNvPr id="7" name="ov_val_1"/>
          <p:cNvSpPr txBox="1"/>
          <p:nvPr/>
        </p:nvSpPr>
        <p:spPr>
          <a:xfrm>
            <a:off x="2606040" y="20299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2D 탑뷰</a:t>
            </a:r>
            <a:endParaRPr lang="en-US" sz="1600" dirty="0"/>
          </a:p>
        </p:txBody>
      </p:sp>
      <p:sp>
        <p:nvSpPr>
          <p:cNvPr id="8" name="ov_row_bg_2"/>
          <p:cNvSpPr/>
          <p:nvPr/>
        </p:nvSpPr>
        <p:spPr>
          <a:xfrm>
            <a:off x="548640" y="2596896"/>
            <a:ext cx="6583680" cy="566928"/>
          </a:xfrm>
          <a:prstGeom prst="rect">
            <a:avLst/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ov_key_2"/>
          <p:cNvSpPr txBox="1"/>
          <p:nvPr/>
        </p:nvSpPr>
        <p:spPr>
          <a:xfrm>
            <a:off x="777240" y="25968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콘셉트</a:t>
            </a:r>
            <a:endParaRPr lang="en-US" sz="1600" dirty="0"/>
          </a:p>
        </p:txBody>
      </p:sp>
      <p:sp>
        <p:nvSpPr>
          <p:cNvPr id="10" name="ov_val_2"/>
          <p:cNvSpPr txBox="1"/>
          <p:nvPr/>
        </p:nvSpPr>
        <p:spPr>
          <a:xfrm>
            <a:off x="2606040" y="259689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조선 액션 판타지 퇴마극, 무당</a:t>
            </a:r>
            <a:endParaRPr lang="en-US" sz="1600" dirty="0"/>
          </a:p>
        </p:txBody>
      </p:sp>
      <p:sp>
        <p:nvSpPr>
          <p:cNvPr id="11" name="ov_key_3"/>
          <p:cNvSpPr txBox="1"/>
          <p:nvPr/>
        </p:nvSpPr>
        <p:spPr>
          <a:xfrm>
            <a:off x="777240" y="31638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플랫폼 · 엔진</a:t>
            </a:r>
            <a:endParaRPr lang="en-US" sz="1600" dirty="0"/>
          </a:p>
        </p:txBody>
      </p:sp>
      <p:sp>
        <p:nvSpPr>
          <p:cNvPr id="12" name="ov_val_3"/>
          <p:cNvSpPr txBox="1"/>
          <p:nvPr/>
        </p:nvSpPr>
        <p:spPr>
          <a:xfrm>
            <a:off x="2606040" y="316382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PC  /  Unity 6 (URP)</a:t>
            </a:r>
            <a:endParaRPr lang="en-US" sz="1600" dirty="0"/>
          </a:p>
        </p:txBody>
      </p:sp>
      <p:sp>
        <p:nvSpPr>
          <p:cNvPr id="13" name="ov_row_bg_4"/>
          <p:cNvSpPr/>
          <p:nvPr/>
        </p:nvSpPr>
        <p:spPr>
          <a:xfrm>
            <a:off x="548640" y="3730752"/>
            <a:ext cx="6583680" cy="566928"/>
          </a:xfrm>
          <a:prstGeom prst="rect">
            <a:avLst/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ov_key_4"/>
          <p:cNvSpPr txBox="1"/>
          <p:nvPr/>
        </p:nvSpPr>
        <p:spPr>
          <a:xfrm>
            <a:off x="777240" y="37307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플레이 인원</a:t>
            </a:r>
            <a:endParaRPr lang="en-US" sz="1600" dirty="0"/>
          </a:p>
        </p:txBody>
      </p:sp>
      <p:sp>
        <p:nvSpPr>
          <p:cNvPr id="15" name="ov_val_4"/>
          <p:cNvSpPr txBox="1"/>
          <p:nvPr/>
        </p:nvSpPr>
        <p:spPr>
          <a:xfrm>
            <a:off x="2606040" y="37307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2인 온라인 협동 (접속 코드로 친구와 연결)</a:t>
            </a:r>
            <a:endParaRPr lang="en-US" sz="1600" dirty="0"/>
          </a:p>
        </p:txBody>
      </p:sp>
      <p:sp>
        <p:nvSpPr>
          <p:cNvPr id="16" name="ov_key_5"/>
          <p:cNvSpPr txBox="1"/>
          <p:nvPr/>
        </p:nvSpPr>
        <p:spPr>
          <a:xfrm>
            <a:off x="777240" y="4297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한 판</a:t>
            </a:r>
            <a:endParaRPr lang="en-US" sz="1600" dirty="0"/>
          </a:p>
        </p:txBody>
      </p:sp>
      <p:sp>
        <p:nvSpPr>
          <p:cNvPr id="17" name="ov_val_5"/>
          <p:cNvSpPr txBox="1"/>
          <p:nvPr/>
        </p:nvSpPr>
        <p:spPr>
          <a:xfrm>
            <a:off x="2606040" y="42976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약 35분</a:t>
            </a:r>
            <a:endParaRPr lang="en-US" sz="1600" dirty="0"/>
          </a:p>
        </p:txBody>
      </p:sp>
      <p:sp>
        <p:nvSpPr>
          <p:cNvPr id="18" name="ov_row_bg_6"/>
          <p:cNvSpPr/>
          <p:nvPr/>
        </p:nvSpPr>
        <p:spPr>
          <a:xfrm>
            <a:off x="548640" y="4864608"/>
            <a:ext cx="6583680" cy="566928"/>
          </a:xfrm>
          <a:prstGeom prst="rect">
            <a:avLst/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ov_key_6"/>
          <p:cNvSpPr txBox="1"/>
          <p:nvPr/>
        </p:nvSpPr>
        <p:spPr>
          <a:xfrm>
            <a:off x="777240" y="48646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타깃</a:t>
            </a:r>
            <a:endParaRPr lang="en-US" sz="1600" dirty="0"/>
          </a:p>
        </p:txBody>
      </p:sp>
      <p:sp>
        <p:nvSpPr>
          <p:cNvPr id="20" name="ov_val_6"/>
          <p:cNvSpPr txBox="1"/>
          <p:nvPr/>
        </p:nvSpPr>
        <p:spPr>
          <a:xfrm>
            <a:off x="2606040" y="486460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뱀서라이크를 해 본, 친구와 할 게임을 찾는 20대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우리 게임의 모습</a:t>
            </a:r>
            <a:endParaRPr lang="en-US" sz="3200" dirty="0"/>
          </a:p>
        </p:txBody>
      </p:sp>
      <p:sp>
        <p:nvSpPr>
          <p:cNvPr id="32" name="Rounded Rectangle 31"/>
          <p:cNvSpPr/>
          <p:nvPr/>
        </p:nvSpPr>
        <p:spPr>
          <a:xfrm>
            <a:off x="548640" y="6291072"/>
            <a:ext cx="2651760" cy="329184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291072"/>
            <a:ext cx="265176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제작 에셋으로 만든 목업 · 실제 화면 아님</a:t>
            </a:r>
          </a:p>
        </p:txBody>
      </p:sp>
      <p:pic>
        <p:nvPicPr>
          <p:cNvPr id="34" name="G5_img" descr="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4460"/>
            <a:ext cx="7233920" cy="4069080"/>
          </a:xfrm>
          <a:prstGeom prst="rect">
            <a:avLst/>
          </a:prstGeom>
        </p:spPr>
      </p:pic>
      <p:sp>
        <p:nvSpPr>
          <p:cNvPr id="6" name="ov_quote_label">
            <a:extLst>
              <a:ext uri="{FF2B5EF4-FFF2-40B4-BE49-F238E27FC236}">
                <a16:creationId xmlns:a16="http://schemas.microsoft.com/office/drawing/2014/main" id="{1AA035FB-B5C5-ADC0-0FA8-DBC08F34AF27}"/>
              </a:ext>
            </a:extLst>
          </p:cNvPr>
          <p:cNvSpPr txBox="1"/>
          <p:nvPr/>
        </p:nvSpPr>
        <p:spPr>
          <a:xfrm>
            <a:off x="8182852" y="1418078"/>
            <a:ext cx="3201427" cy="26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천명(天命) · 하늘이 내린 명</a:t>
            </a:r>
            <a:endParaRPr lang="en-US" sz="1400" dirty="0"/>
          </a:p>
        </p:txBody>
      </p:sp>
      <p:sp>
        <p:nvSpPr>
          <p:cNvPr id="8" name="ov_quote">
            <a:extLst>
              <a:ext uri="{FF2B5EF4-FFF2-40B4-BE49-F238E27FC236}">
                <a16:creationId xmlns:a16="http://schemas.microsoft.com/office/drawing/2014/main" id="{B3E50601-5E4B-E79D-6028-32B8D55F0DF1}"/>
              </a:ext>
            </a:extLst>
          </p:cNvPr>
          <p:cNvSpPr txBox="1"/>
          <p:nvPr/>
        </p:nvSpPr>
        <p:spPr>
          <a:xfrm>
            <a:off x="8104988" y="2000556"/>
            <a:ext cx="3834977" cy="1761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조선 무당 컨셉을 바탕으로 한 2인 협동 뱀서라이크</a:t>
            </a:r>
            <a:endParaRPr lang="en-US" sz="2400" dirty="0"/>
          </a:p>
        </p:txBody>
      </p:sp>
      <p:pic>
        <p:nvPicPr>
          <p:cNvPr id="10" name="ov_hayoung" descr="/tmp/claude-0/-home-claude/d5f48452-305e-51fe-9a7c-9dfa0c30073e/scratchpad/deck/a/HaYoung.png">
            <a:extLst>
              <a:ext uri="{FF2B5EF4-FFF2-40B4-BE49-F238E27FC236}">
                <a16:creationId xmlns:a16="http://schemas.microsoft.com/office/drawing/2014/main" id="{E285513A-417D-5811-C0BD-07B0D87AE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930" y="3761673"/>
            <a:ext cx="1188500" cy="1474342"/>
          </a:xfrm>
          <a:prstGeom prst="rect">
            <a:avLst/>
          </a:prstGeom>
        </p:spPr>
      </p:pic>
      <p:pic>
        <p:nvPicPr>
          <p:cNvPr id="12" name="ov_hanjuwon" descr="/tmp/claude-0/-home-claude/d5f48452-305e-51fe-9a7c-9dfa0c30073e/scratchpad/deck/a/HanJuwon.png">
            <a:extLst>
              <a:ext uri="{FF2B5EF4-FFF2-40B4-BE49-F238E27FC236}">
                <a16:creationId xmlns:a16="http://schemas.microsoft.com/office/drawing/2014/main" id="{9B1CAD8B-04AA-F51E-7D71-21C71A60E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3685" y="3761673"/>
            <a:ext cx="879195" cy="1474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· </a:t>
            </a:r>
            <a:r>
              <a:rPr dirty="0" err="1"/>
              <a:t>뱀서라이크</a:t>
            </a:r>
            <a:endParaRPr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Steam 뱀서라이크 출시 수 (Bullet Heaven 태그)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548640" y="1737360"/>
          <a:ext cx="5760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" y="53492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3262E"/>
                </a:solidFill>
                <a:latin typeface="맑은 고딕"/>
                <a:ea typeface="맑은 고딕"/>
              </a:rPr>
              <a:t>4년 만에 약 6배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1325880"/>
            <a:ext cx="4892040" cy="178308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66560" y="1325880"/>
            <a:ext cx="91440" cy="178308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600" y="1463039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869B"/>
                </a:solidFill>
                <a:latin typeface="맑은 고딕"/>
                <a:ea typeface="맑은 고딕"/>
              </a:rPr>
              <a:t>뱀파이어 서바이버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1828800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B2030"/>
                </a:solidFill>
                <a:latin typeface="맑은 고딕"/>
                <a:ea typeface="맑은 고딕"/>
              </a:rPr>
              <a:t>300만 다운로드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231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모바일 출시 한 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71576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BAFTA 2023 최우수 게임상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3291839"/>
            <a:ext cx="4892040" cy="178308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766560" y="3291839"/>
            <a:ext cx="91440" cy="178308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86600" y="3428999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869B"/>
                </a:solidFill>
                <a:latin typeface="맑은 고딕"/>
                <a:ea typeface="맑은 고딕"/>
              </a:rPr>
              <a:t>탕탕특공대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794759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B2030"/>
                </a:solidFill>
                <a:latin typeface="맑은 고딕"/>
                <a:ea typeface="맑은 고딕"/>
              </a:rPr>
              <a:t>인앱 매출 5억 달러+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891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출시 후 약 1년 8개월 누적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681727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출시 2개월 만에 7,500만 달러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3492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3262E"/>
                </a:solidFill>
                <a:latin typeface="맑은 고딕"/>
                <a:ea typeface="맑은 고딕"/>
              </a:rPr>
              <a:t>커지는 장르, 우리는 2인 협동으로 차별화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C869B"/>
                </a:solidFill>
                <a:latin typeface="맑은 고딕"/>
                <a:ea typeface="맑은 고딕"/>
              </a:rPr>
              <a:t>출처  Steam Page Analyzer (2026.9.27 기준)  ·  mobilegamer.biz / AppMagic (2023.1.16)  ·  WN Hub / Sensor Tower (2024.4.16)  ·  mobilegamer.biz / AppMagic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레퍼런스 게임</a:t>
            </a:r>
            <a:endParaRPr lang="en-US" sz="3200" dirty="0"/>
          </a:p>
        </p:txBody>
      </p:sp>
      <p:sp>
        <p:nvSpPr>
          <p:cNvPr id="3" name="ref_card_0"/>
          <p:cNvSpPr/>
          <p:nvPr/>
        </p:nvSpPr>
        <p:spPr>
          <a:xfrm>
            <a:off x="548640" y="137160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ref_name_0"/>
          <p:cNvSpPr txBox="1"/>
          <p:nvPr/>
        </p:nvSpPr>
        <p:spPr>
          <a:xfrm>
            <a:off x="914400" y="3840480"/>
            <a:ext cx="2892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뱀파이어 서바이버</a:t>
            </a:r>
            <a:endParaRPr lang="en-US" sz="2600" dirty="0"/>
          </a:p>
        </p:txBody>
      </p:sp>
      <p:sp>
        <p:nvSpPr>
          <p:cNvPr id="7" name="ref_line_0"/>
          <p:cNvSpPr txBox="1"/>
          <p:nvPr/>
        </p:nvSpPr>
        <p:spPr>
          <a:xfrm>
            <a:off x="914400" y="4343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밤의 괴물 수천 마리를 쓸어내며 살아남는 생존 액션</a:t>
            </a:r>
            <a:endParaRPr lang="en-US" sz="1600" dirty="0"/>
          </a:p>
        </p:txBody>
      </p:sp>
      <p:sp>
        <p:nvSpPr>
          <p:cNvPr id="12" name="ref_card_1"/>
          <p:cNvSpPr/>
          <p:nvPr/>
        </p:nvSpPr>
        <p:spPr>
          <a:xfrm>
            <a:off x="6263640" y="137160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ref_name_1"/>
          <p:cNvSpPr txBox="1"/>
          <p:nvPr/>
        </p:nvSpPr>
        <p:spPr>
          <a:xfrm>
            <a:off x="66294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탕탕특공대</a:t>
            </a:r>
            <a:endParaRPr lang="en-US" sz="2600" dirty="0"/>
          </a:p>
        </p:txBody>
      </p:sp>
      <p:sp>
        <p:nvSpPr>
          <p:cNvPr id="16" name="ref_line_1"/>
          <p:cNvSpPr txBox="1"/>
          <p:nvPr/>
        </p:nvSpPr>
        <p:spPr>
          <a:xfrm>
            <a:off x="6629400" y="4343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좀비 무리를 한 손 조작으로 상대하는 로그라이크 액션</a:t>
            </a:r>
            <a:endParaRPr lang="en-US" sz="1600" dirty="0"/>
          </a:p>
        </p:txBody>
      </p:sp>
      <p:sp>
        <p:nvSpPr>
          <p:cNvPr id="21" name="ref_sources"/>
          <p:cNvSpPr txBox="1"/>
          <p:nvPr/>
        </p:nvSpPr>
        <p:spPr>
          <a:xfrm>
            <a:off x="54864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출처  </a:t>
            </a:r>
            <a:r>
              <a:rPr lang="en-US" sz="10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Steam 상점</a:t>
            </a:r>
            <a:r>
              <a:rPr lang="en-US" sz="1000" dirty="0">
                <a:solidFill>
                  <a:schemeClr val="accent5"/>
                </a:solidFill>
              </a:rPr>
              <a:t>  ·  </a:t>
            </a:r>
            <a:r>
              <a:rPr lang="en-US" sz="10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Guinness World Records</a:t>
            </a:r>
            <a:r>
              <a:rPr lang="en-US" sz="1000" dirty="0">
                <a:solidFill>
                  <a:schemeClr val="accent5"/>
                </a:solidFill>
              </a:rPr>
              <a:t>  ·  </a:t>
            </a:r>
            <a:r>
              <a:rPr lang="en-US" sz="10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 Store 탕탕특공대</a:t>
            </a:r>
            <a:r>
              <a:rPr lang="en-US" sz="1000" dirty="0">
                <a:solidFill>
                  <a:schemeClr val="accent5"/>
                </a:solidFill>
              </a:rPr>
              <a:t>  ·  </a:t>
            </a:r>
            <a:r>
              <a:rPr lang="en-US" sz="1000" u="sng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mobilegamer.biz (AppMagic 집계)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0" name="ref_ach_0"/>
          <p:cNvSpPr txBox="1"/>
          <p:nvPr/>
        </p:nvSpPr>
        <p:spPr>
          <a:xfrm>
            <a:off x="2926080" y="395020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B3262E"/>
                </a:solidFill>
                <a:latin typeface="맑은 고딕"/>
                <a:ea typeface="맑은 고딕"/>
              </a:rPr>
              <a:t>BAFTA 2023 </a:t>
            </a:r>
            <a:r>
              <a:rPr sz="1200" b="0" dirty="0" err="1">
                <a:solidFill>
                  <a:srgbClr val="B3262E"/>
                </a:solidFill>
                <a:latin typeface="맑은 고딕"/>
                <a:ea typeface="맑은 고딕"/>
              </a:rPr>
              <a:t>최우수</a:t>
            </a:r>
            <a:r>
              <a:rPr sz="1200" b="0" dirty="0">
                <a:solidFill>
                  <a:srgbClr val="B3262E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B3262E"/>
                </a:solidFill>
                <a:latin typeface="맑은 고딕"/>
                <a:ea typeface="맑은 고딕"/>
              </a:rPr>
              <a:t>게임상</a:t>
            </a:r>
            <a:endParaRPr sz="1200" b="0" dirty="0">
              <a:solidFill>
                <a:srgbClr val="B3262E"/>
              </a:solidFill>
              <a:latin typeface="맑은 고딕"/>
              <a:ea typeface="맑은 고딕"/>
            </a:endParaRPr>
          </a:p>
        </p:txBody>
      </p:sp>
      <p:sp>
        <p:nvSpPr>
          <p:cNvPr id="35" name="ref_ach_1"/>
          <p:cNvSpPr txBox="1"/>
          <p:nvPr/>
        </p:nvSpPr>
        <p:spPr>
          <a:xfrm>
            <a:off x="8641080" y="395020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B3262E"/>
                </a:solidFill>
                <a:latin typeface="맑은 고딕"/>
                <a:ea typeface="맑은 고딕"/>
              </a:rPr>
              <a:t>출시 2개월 인앱 매출 $7,500만</a:t>
            </a:r>
          </a:p>
        </p:txBody>
      </p:sp>
      <p:pic>
        <p:nvPicPr>
          <p:cNvPr id="36" name="Picture 35" descr="R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351" y="1645920"/>
            <a:ext cx="3701816" cy="2103120"/>
          </a:xfrm>
          <a:prstGeom prst="rect">
            <a:avLst/>
          </a:prstGeom>
        </p:spPr>
      </p:pic>
      <p:pic>
        <p:nvPicPr>
          <p:cNvPr id="37" name="Picture 36" descr="R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0873" y="1645920"/>
            <a:ext cx="3374773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레퍼런스 흥행 이유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1325880"/>
            <a:ext cx="5440680" cy="548640"/>
          </a:xfrm>
          <a:prstGeom prst="roundRect">
            <a:avLst>
              <a:gd name="adj" fmla="val 12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13258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뱀파이어 서바이버</a:t>
            </a:r>
          </a:p>
        </p:txBody>
      </p:sp>
      <p:sp>
        <p:nvSpPr>
          <p:cNvPr id="29" name="Oval 28"/>
          <p:cNvSpPr/>
          <p:nvPr/>
        </p:nvSpPr>
        <p:spPr>
          <a:xfrm>
            <a:off x="822959" y="2139696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213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1031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3달러, 무료 체험판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2468879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부담 없이 시작한다</a:t>
            </a:r>
          </a:p>
        </p:txBody>
      </p:sp>
      <p:sp>
        <p:nvSpPr>
          <p:cNvPr id="33" name="Oval 32"/>
          <p:cNvSpPr/>
          <p:nvPr/>
        </p:nvSpPr>
        <p:spPr>
          <a:xfrm>
            <a:off x="822959" y="2962656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" y="2962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292607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이동만 하는 조작, 10~20분 한 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291839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짧게, 쉽게 즐긴다</a:t>
            </a:r>
          </a:p>
        </p:txBody>
      </p:sp>
      <p:sp>
        <p:nvSpPr>
          <p:cNvPr id="37" name="Oval 36"/>
          <p:cNvSpPr/>
          <p:nvPr/>
        </p:nvSpPr>
        <p:spPr>
          <a:xfrm>
            <a:off x="822959" y="3785615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378561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74903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해금할 것이 많다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1148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‘한 판만 더’를 부른다</a:t>
            </a:r>
          </a:p>
        </p:txBody>
      </p:sp>
      <p:sp>
        <p:nvSpPr>
          <p:cNvPr id="41" name="Oval 40"/>
          <p:cNvSpPr/>
          <p:nvPr/>
        </p:nvSpPr>
        <p:spPr>
          <a:xfrm>
            <a:off x="822959" y="4608576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59" y="46085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5720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방송으로 퍼졌다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9377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Twitch 시청자 최대 약 14만 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325880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217920" y="1325880"/>
            <a:ext cx="5440680" cy="548640"/>
          </a:xfrm>
          <a:prstGeom prst="roundRect">
            <a:avLst>
              <a:gd name="adj" fmla="val 12000"/>
            </a:avLst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13258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탕탕특공대</a:t>
            </a:r>
          </a:p>
        </p:txBody>
      </p:sp>
      <p:sp>
        <p:nvSpPr>
          <p:cNvPr id="48" name="Oval 47"/>
          <p:cNvSpPr/>
          <p:nvPr/>
        </p:nvSpPr>
        <p:spPr>
          <a:xfrm>
            <a:off x="6492240" y="2139696"/>
            <a:ext cx="384048" cy="384048"/>
          </a:xfrm>
          <a:prstGeom prst="ellipse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13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무료 모바일, 한 손 조작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2468879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누구나 바로 시작한다</a:t>
            </a:r>
          </a:p>
        </p:txBody>
      </p:sp>
      <p:sp>
        <p:nvSpPr>
          <p:cNvPr id="52" name="Oval 51"/>
          <p:cNvSpPr/>
          <p:nvPr/>
        </p:nvSpPr>
        <p:spPr>
          <a:xfrm>
            <a:off x="6492240" y="2962656"/>
            <a:ext cx="384048" cy="384048"/>
          </a:xfrm>
          <a:prstGeom prst="ellipse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40" y="2962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292607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TikTok 광고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3291839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‘게임 × TikTok 광고’ 첫 성공 사례</a:t>
            </a:r>
          </a:p>
        </p:txBody>
      </p:sp>
      <p:sp>
        <p:nvSpPr>
          <p:cNvPr id="56" name="Oval 55"/>
          <p:cNvSpPr/>
          <p:nvPr/>
        </p:nvSpPr>
        <p:spPr>
          <a:xfrm>
            <a:off x="6492240" y="3785615"/>
            <a:ext cx="384048" cy="384048"/>
          </a:xfrm>
          <a:prstGeom prst="ellipse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378561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374903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검증된 자동 공격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41148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7C869B"/>
                </a:solidFill>
                <a:latin typeface="맑은 고딕"/>
                <a:ea typeface="맑은 고딕"/>
              </a:rPr>
              <a:t>아처로를</a:t>
            </a:r>
            <a:r>
              <a:rPr sz="1200" b="0" dirty="0">
                <a:solidFill>
                  <a:srgbClr val="7C869B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7C869B"/>
                </a:solidFill>
                <a:latin typeface="맑은 고딕"/>
                <a:ea typeface="맑은 고딕"/>
              </a:rPr>
              <a:t>만든</a:t>
            </a:r>
            <a:r>
              <a:rPr sz="1200" b="0" dirty="0">
                <a:solidFill>
                  <a:srgbClr val="7C869B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7C869B"/>
                </a:solidFill>
                <a:latin typeface="맑은 고딕"/>
                <a:ea typeface="맑은 고딕"/>
              </a:rPr>
              <a:t>Habby의</a:t>
            </a:r>
            <a:r>
              <a:rPr sz="1200" b="0" dirty="0">
                <a:solidFill>
                  <a:srgbClr val="7C869B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7C869B"/>
                </a:solidFill>
                <a:latin typeface="맑은 고딕"/>
                <a:ea typeface="맑은 고딕"/>
              </a:rPr>
              <a:t>다음</a:t>
            </a:r>
            <a:r>
              <a:rPr sz="1200" b="0" dirty="0">
                <a:solidFill>
                  <a:srgbClr val="7C869B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7C869B"/>
                </a:solidFill>
                <a:latin typeface="맑은 고딕"/>
                <a:ea typeface="맑은 고딕"/>
              </a:rPr>
              <a:t>작품</a:t>
            </a:r>
            <a:endParaRPr sz="1200" b="0" dirty="0">
              <a:solidFill>
                <a:srgbClr val="7C869B"/>
              </a:solidFill>
              <a:latin typeface="맑은 고딕"/>
              <a:ea typeface="맑은 고딕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492240" y="4608576"/>
            <a:ext cx="384048" cy="384048"/>
          </a:xfrm>
          <a:prstGeom prst="ellipse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92240" y="46085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45720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차트 504위 → 1위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0" y="49377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2022.8.12 iOS · Android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C869B"/>
                </a:solidFill>
                <a:latin typeface="맑은 고딕"/>
                <a:ea typeface="맑은 고딕"/>
              </a:rPr>
              <a:t>출처  Tom's Guide  ·  SuperJump Magazine  ·  Axios (2022.8.26, Naavik)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레퍼런스에서 가져온 것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109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레퍼런스</a:t>
                      </a:r>
                    </a:p>
                  </a:txBody>
                  <a:tcPr marL="228600" anchor="ctr"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가져온 것</a:t>
                      </a:r>
                    </a:p>
                  </a:txBody>
                  <a:tcPr marL="228600" anchor="ctr"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천명에서는</a:t>
                      </a:r>
                    </a:p>
                  </a:txBody>
                  <a:tcPr marL="228600" anchor="ctr">
                    <a:solidFill>
                      <a:srgbClr val="B326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 rowSpan="3"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뱀파이어 서바이버</a:t>
                      </a:r>
                    </a:p>
                  </a:txBody>
                  <a:tcPr marL="228600" anchor="ctr">
                    <a:solidFill>
                      <a:srgbClr val="E2E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자동 공격</a:t>
                      </a:r>
                    </a:p>
                  </a:txBody>
                  <a:tcPr marL="2286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공격은 마우스 방향으로 자동 발동</a:t>
                      </a:r>
                    </a:p>
                  </a:txBody>
                  <a:tcPr marL="2286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28600" anchor="ctr">
                    <a:solidFill>
                      <a:srgbClr val="E2E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쏟아지는</a:t>
                      </a:r>
                      <a:r>
                        <a:rPr sz="1600" b="0" dirty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 적</a:t>
                      </a:r>
                    </a:p>
                  </a:txBody>
                  <a:tcPr marL="2286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한 판 </a:t>
                      </a:r>
                      <a:r>
                        <a:rPr sz="1600" b="1" dirty="0" err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원귀</a:t>
                      </a:r>
                      <a:r>
                        <a:rPr sz="1600" b="1" dirty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 2,680마리</a:t>
                      </a:r>
                    </a:p>
                  </a:txBody>
                  <a:tcPr marL="228600"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28600" anchor="ctr">
                    <a:solidFill>
                      <a:srgbClr val="E2E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레벨업 3장 중 1장</a:t>
                      </a:r>
                    </a:p>
                  </a:txBody>
                  <a:tcPr marL="2286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둘이 함께 멈추고, 각자 고른다</a:t>
                      </a:r>
                    </a:p>
                  </a:txBody>
                  <a:tcPr marL="2286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 rowSpan="2"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탕탕특공대</a:t>
                      </a:r>
                    </a:p>
                  </a:txBody>
                  <a:tcPr marL="228600" anchor="ctr">
                    <a:solidFill>
                      <a:srgbClr val="E2E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쉬운 조작</a:t>
                      </a:r>
                    </a:p>
                  </a:txBody>
                  <a:tcPr marL="2286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이동만 하면 된다</a:t>
                      </a:r>
                    </a:p>
                  </a:txBody>
                  <a:tcPr marL="228600"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28600" anchor="ctr">
                    <a:solidFill>
                      <a:srgbClr val="E2E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판 밖 성장</a:t>
                      </a:r>
                    </a:p>
                  </a:txBody>
                  <a:tcPr marL="2286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엽전으로</a:t>
                      </a:r>
                      <a:r>
                        <a:rPr sz="1600" b="1" dirty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캐릭터</a:t>
                      </a:r>
                      <a:r>
                        <a:rPr sz="1600" b="1" dirty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해금</a:t>
                      </a:r>
                      <a:r>
                        <a:rPr sz="1600" b="1" dirty="0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1600" b="1" dirty="0" err="1">
                          <a:solidFill>
                            <a:srgbClr val="1B2030"/>
                          </a:solidFill>
                          <a:latin typeface="맑은 고딕"/>
                          <a:ea typeface="맑은 고딕"/>
                        </a:rPr>
                        <a:t>스킬트리</a:t>
                      </a:r>
                      <a:endParaRPr sz="1600" b="1" dirty="0">
                        <a:solidFill>
                          <a:srgbClr val="1B203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286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핵심 특징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2030"/>
                </a:solidFill>
                <a:latin typeface="맑은 고딕"/>
                <a:ea typeface="맑은 고딕"/>
              </a:rPr>
              <a:t>무당이 무구로 싸우고, 둘이어야 끝까지 버틴다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965960"/>
            <a:ext cx="5440680" cy="406908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196596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aYou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6861"/>
            <a:ext cx="1143000" cy="14178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" y="388620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C98A"/>
                </a:solidFill>
                <a:latin typeface="맑은 고딕"/>
                <a:ea typeface="맑은 고딕"/>
              </a:rPr>
              <a:t>사인검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223" y="2103120"/>
            <a:ext cx="1008776" cy="1691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039112" y="388620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C98A"/>
                </a:solidFill>
                <a:latin typeface="맑은 고딕"/>
                <a:ea typeface="맑은 고딕"/>
              </a:rPr>
              <a:t>부적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490" y="2103120"/>
            <a:ext cx="811987" cy="1691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300984" y="388620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C98A"/>
                </a:solidFill>
                <a:latin typeface="맑은 고딕"/>
                <a:ea typeface="맑은 고딕"/>
              </a:rPr>
              <a:t>신칼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5" y="2335025"/>
            <a:ext cx="1143000" cy="14597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62855" y="388620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C98A"/>
                </a:solidFill>
                <a:latin typeface="맑은 고딕"/>
                <a:ea typeface="맑은 고딕"/>
              </a:rPr>
              <a:t>부채</a:t>
            </a:r>
          </a:p>
        </p:txBody>
      </p:sp>
      <p:sp>
        <p:nvSpPr>
          <p:cNvPr id="37" name="Oval 36"/>
          <p:cNvSpPr/>
          <p:nvPr/>
        </p:nvSpPr>
        <p:spPr>
          <a:xfrm>
            <a:off x="822959" y="4553712"/>
            <a:ext cx="411480" cy="411480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455371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55371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030"/>
                </a:solidFill>
                <a:latin typeface="맑은 고딕"/>
                <a:ea typeface="맑은 고딕"/>
              </a:rPr>
              <a:t>무당과 무구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512064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사인검 · 부적 · 신칼 · 부채 같은 실제 무구로 싸운다</a:t>
            </a:r>
          </a:p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무구마다 공격 방식과 이펙트가 다르다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1965960"/>
            <a:ext cx="5440680" cy="406908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_co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1965960"/>
            <a:ext cx="5440680" cy="237744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6492240" y="4553712"/>
            <a:ext cx="411480" cy="411480"/>
          </a:xfrm>
          <a:prstGeom prst="ellipse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455371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55371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030"/>
                </a:solidFill>
                <a:latin typeface="맑은 고딕"/>
                <a:ea typeface="맑은 고딕"/>
              </a:rPr>
              <a:t>협동 플레이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12064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잡힌 동료는 동료만 풀어주고, 쓰러지면 동료가 버텨야 부활</a:t>
            </a:r>
          </a:p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끝까지 버틴 두 사람이 함께 보스를 봉인한다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차이점 · 둘이어야 하는 이유</a:t>
            </a:r>
            <a:endParaRPr lang="en-US" sz="3200" dirty="0"/>
          </a:p>
        </p:txBody>
      </p:sp>
      <p:sp>
        <p:nvSpPr>
          <p:cNvPr id="3" name="diff_head_l"/>
          <p:cNvSpPr txBox="1"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기존 뱀서라이크</a:t>
            </a:r>
            <a:endParaRPr lang="en-US" sz="1800" dirty="0"/>
          </a:p>
        </p:txBody>
      </p:sp>
      <p:sp>
        <p:nvSpPr>
          <p:cNvPr id="4" name="diff_head_r"/>
          <p:cNvSpPr txBox="1"/>
          <p:nvPr/>
        </p:nvSpPr>
        <p:spPr>
          <a:xfrm>
            <a:off x="64922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천명</a:t>
            </a:r>
            <a:endParaRPr lang="en-US" sz="1800" dirty="0"/>
          </a:p>
        </p:txBody>
      </p:sp>
      <p:sp>
        <p:nvSpPr>
          <p:cNvPr id="5" name="diff_l_bg_0"/>
          <p:cNvSpPr/>
          <p:nvPr/>
        </p:nvSpPr>
        <p:spPr>
          <a:xfrm>
            <a:off x="548640" y="192024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diff_r_bg_0"/>
          <p:cNvSpPr/>
          <p:nvPr/>
        </p:nvSpPr>
        <p:spPr>
          <a:xfrm>
            <a:off x="6492240" y="192024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diff_l_0"/>
          <p:cNvSpPr txBox="1"/>
          <p:nvPr/>
        </p:nvSpPr>
        <p:spPr>
          <a:xfrm>
            <a:off x="777240" y="1920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뱀파이어, 좀비 같은 서양·현대 소재</a:t>
            </a:r>
            <a:endParaRPr lang="en-US" sz="1600" dirty="0"/>
          </a:p>
        </p:txBody>
      </p:sp>
      <p:sp>
        <p:nvSpPr>
          <p:cNvPr id="8" name="diff_r_0"/>
          <p:cNvSpPr txBox="1"/>
          <p:nvPr/>
        </p:nvSpPr>
        <p:spPr>
          <a:xfrm>
            <a:off x="672084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조선 무당 퇴마</a:t>
            </a:r>
            <a:endParaRPr lang="en-US" sz="1800" dirty="0"/>
          </a:p>
        </p:txBody>
      </p:sp>
      <p:sp>
        <p:nvSpPr>
          <p:cNvPr id="9" name="diff_k_bg_0"/>
          <p:cNvSpPr/>
          <p:nvPr/>
        </p:nvSpPr>
        <p:spPr>
          <a:xfrm>
            <a:off x="5321808" y="2075688"/>
            <a:ext cx="969264" cy="5120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diff_k_0"/>
          <p:cNvSpPr txBox="1"/>
          <p:nvPr/>
        </p:nvSpPr>
        <p:spPr>
          <a:xfrm>
            <a:off x="5321808" y="2075688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소재</a:t>
            </a:r>
            <a:endParaRPr lang="en-US" sz="1400" dirty="0"/>
          </a:p>
        </p:txBody>
      </p:sp>
      <p:sp>
        <p:nvSpPr>
          <p:cNvPr id="11" name="diff_l_bg_1"/>
          <p:cNvSpPr/>
          <p:nvPr/>
        </p:nvSpPr>
        <p:spPr>
          <a:xfrm>
            <a:off x="548640" y="2907792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diff_r_bg_1"/>
          <p:cNvSpPr/>
          <p:nvPr/>
        </p:nvSpPr>
        <p:spPr>
          <a:xfrm>
            <a:off x="6492240" y="2907792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diff_l_1"/>
          <p:cNvSpPr txBox="1"/>
          <p:nvPr/>
        </p:nvSpPr>
        <p:spPr>
          <a:xfrm>
            <a:off x="777240" y="29077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협동해도 각자 싸운다</a:t>
            </a:r>
            <a:endParaRPr lang="en-US" sz="1600" dirty="0"/>
          </a:p>
        </p:txBody>
      </p:sp>
      <p:sp>
        <p:nvSpPr>
          <p:cNvPr id="14" name="diff_r_1"/>
          <p:cNvSpPr txBox="1"/>
          <p:nvPr/>
        </p:nvSpPr>
        <p:spPr>
          <a:xfrm>
            <a:off x="6720840" y="29077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혼자서는 다 막을 수 없는 원귀 수</a:t>
            </a:r>
            <a:endParaRPr lang="en-US" sz="1800" dirty="0"/>
          </a:p>
        </p:txBody>
      </p:sp>
      <p:sp>
        <p:nvSpPr>
          <p:cNvPr id="15" name="diff_k_bg_1"/>
          <p:cNvSpPr/>
          <p:nvPr/>
        </p:nvSpPr>
        <p:spPr>
          <a:xfrm>
            <a:off x="5321808" y="3063240"/>
            <a:ext cx="969264" cy="5120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diff_k_1"/>
          <p:cNvSpPr txBox="1"/>
          <p:nvPr/>
        </p:nvSpPr>
        <p:spPr>
          <a:xfrm>
            <a:off x="5321808" y="3063240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협동</a:t>
            </a:r>
            <a:endParaRPr lang="en-US" sz="1400" dirty="0"/>
          </a:p>
        </p:txBody>
      </p:sp>
      <p:sp>
        <p:nvSpPr>
          <p:cNvPr id="17" name="diff_l_bg_2"/>
          <p:cNvSpPr/>
          <p:nvPr/>
        </p:nvSpPr>
        <p:spPr>
          <a:xfrm>
            <a:off x="548640" y="3895344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diff_r_bg_2"/>
          <p:cNvSpPr/>
          <p:nvPr/>
        </p:nvSpPr>
        <p:spPr>
          <a:xfrm>
            <a:off x="6492240" y="3895344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diff_l_2"/>
          <p:cNvSpPr txBox="1"/>
          <p:nvPr/>
        </p:nvSpPr>
        <p:spPr>
          <a:xfrm>
            <a:off x="777240" y="389534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그 판은 끝</a:t>
            </a:r>
            <a:endParaRPr lang="en-US" sz="1600" dirty="0"/>
          </a:p>
        </p:txBody>
      </p:sp>
      <p:sp>
        <p:nvSpPr>
          <p:cNvPr id="20" name="diff_r_2"/>
          <p:cNvSpPr txBox="1"/>
          <p:nvPr/>
        </p:nvSpPr>
        <p:spPr>
          <a:xfrm>
            <a:off x="6720840" y="389534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chemeClr val="bg1"/>
                </a:solidFill>
              </a:rPr>
              <a:t>관전하다 웨이브 끝에 부활</a:t>
            </a:r>
            <a:endParaRPr lang="en-US" sz="1800" dirty="0"/>
          </a:p>
        </p:txBody>
      </p:sp>
      <p:sp>
        <p:nvSpPr>
          <p:cNvPr id="21" name="diff_k_bg_2"/>
          <p:cNvSpPr/>
          <p:nvPr/>
        </p:nvSpPr>
        <p:spPr>
          <a:xfrm>
            <a:off x="5321808" y="4050792"/>
            <a:ext cx="969264" cy="5120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diff_k_2"/>
          <p:cNvSpPr txBox="1"/>
          <p:nvPr/>
        </p:nvSpPr>
        <p:spPr>
          <a:xfrm>
            <a:off x="5321808" y="4050792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쓰러지면</a:t>
            </a:r>
            <a:endParaRPr lang="en-US" sz="1400" dirty="0"/>
          </a:p>
        </p:txBody>
      </p:sp>
      <p:sp>
        <p:nvSpPr>
          <p:cNvPr id="23" name="diff_l_bg_3"/>
          <p:cNvSpPr/>
          <p:nvPr/>
        </p:nvSpPr>
        <p:spPr>
          <a:xfrm>
            <a:off x="548640" y="4882896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diff_r_bg_3"/>
          <p:cNvSpPr/>
          <p:nvPr/>
        </p:nvSpPr>
        <p:spPr>
          <a:xfrm>
            <a:off x="6492240" y="4882896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diff_l_3"/>
          <p:cNvSpPr txBox="1"/>
          <p:nvPr/>
        </p:nvSpPr>
        <p:spPr>
          <a:xfrm>
            <a:off x="777240" y="4882896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그냥 사라진다</a:t>
            </a:r>
            <a:endParaRPr lang="en-US" sz="1600" dirty="0"/>
          </a:p>
        </p:txBody>
      </p:sp>
      <p:sp>
        <p:nvSpPr>
          <p:cNvPr id="26" name="diff_r_3"/>
          <p:cNvSpPr txBox="1"/>
          <p:nvPr/>
        </p:nvSpPr>
        <p:spPr>
          <a:xfrm>
            <a:off x="6720840" y="488289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원한이 되어 보스를 키운다</a:t>
            </a:r>
            <a:endParaRPr lang="en-US" sz="1800" dirty="0"/>
          </a:p>
        </p:txBody>
      </p:sp>
      <p:sp>
        <p:nvSpPr>
          <p:cNvPr id="27" name="diff_k_bg_3"/>
          <p:cNvSpPr/>
          <p:nvPr/>
        </p:nvSpPr>
        <p:spPr>
          <a:xfrm>
            <a:off x="5321808" y="5038344"/>
            <a:ext cx="969264" cy="5120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diff_k_3"/>
          <p:cNvSpPr txBox="1"/>
          <p:nvPr/>
        </p:nvSpPr>
        <p:spPr>
          <a:xfrm>
            <a:off x="5321808" y="5038344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놓친 적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30" name="df_boss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3262E"/>
                </a:solidFill>
                <a:latin typeface="맑은 고딕"/>
                <a:ea typeface="맑은 고딕"/>
              </a:rPr>
              <a:t>최종전에는 부활이 없다. 서로를 지키는 것이 곧 공략이다.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게임 플로우 · 한 판</a:t>
            </a:r>
            <a:endParaRPr lang="en-US" sz="3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한 판 약 35분 · 3분 웨이브 10번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749039"/>
            <a:ext cx="3772553" cy="914400"/>
          </a:xfrm>
          <a:prstGeom prst="rect">
            <a:avLst/>
          </a:prstGeom>
          <a:solidFill>
            <a:srgbClr val="3B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86200"/>
            <a:ext cx="38091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웨이브 1~4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59"/>
            <a:ext cx="380912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DDE3EE"/>
                </a:solidFill>
                <a:latin typeface="맑은 고딕"/>
                <a:ea typeface="맑은 고딕"/>
              </a:rPr>
              <a:t>원귀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76057" y="3749039"/>
            <a:ext cx="915706" cy="9144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57769" y="3886200"/>
            <a:ext cx="95228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5웨이브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7769" y="4251959"/>
            <a:ext cx="95228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DDE3EE"/>
                </a:solidFill>
                <a:latin typeface="맑은 고딕"/>
                <a:ea typeface="맑은 고딕"/>
              </a:rPr>
              <a:t>억쇠 첫 등장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28339" y="3749039"/>
            <a:ext cx="4724835" cy="914400"/>
          </a:xfrm>
          <a:prstGeom prst="rect">
            <a:avLst/>
          </a:prstGeom>
          <a:solidFill>
            <a:srgbClr val="3B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10051" y="3886200"/>
            <a:ext cx="47614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웨이브 6~10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10051" y="4251959"/>
            <a:ext cx="476141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DDE3EE"/>
                </a:solidFill>
                <a:latin typeface="맑은 고딕"/>
                <a:ea typeface="맑은 고딕"/>
              </a:rPr>
              <a:t>원귀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89750" y="3749039"/>
            <a:ext cx="1550561" cy="914400"/>
          </a:xfrm>
          <a:prstGeom prst="rect">
            <a:avLst/>
          </a:prstGeom>
          <a:solidFill>
            <a:srgbClr val="7A1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71462" y="3886200"/>
            <a:ext cx="158713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최종전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1462" y="4251959"/>
            <a:ext cx="158713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DDE3EE"/>
                </a:solidFill>
                <a:latin typeface="맑은 고딕"/>
                <a:ea typeface="맑은 고딕"/>
              </a:rPr>
              <a:t>억쇠 봉인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79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0분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92009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12분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44291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15분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5702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30분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35분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924" y="2523744"/>
            <a:ext cx="566928" cy="1115568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732" y="2615183"/>
            <a:ext cx="804672" cy="1024128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540" y="2523744"/>
            <a:ext cx="1024128" cy="1115568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77" y="2523744"/>
            <a:ext cx="566928" cy="1115568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285" y="2615183"/>
            <a:ext cx="804672" cy="1024128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093" y="2523744"/>
            <a:ext cx="1024128" cy="1115568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0702" y="2258568"/>
            <a:ext cx="1226415" cy="141732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4233" y="1755647"/>
            <a:ext cx="1661595" cy="192024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3262E"/>
                </a:solidFill>
                <a:latin typeface="맑은 고딕"/>
                <a:ea typeface="맑은 고딕"/>
              </a:rPr>
              <a:t>억쇠를 봉인하면 클리어 · 둘 다 쓰러지면 게임 오버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게임 플로우 · 한 웨이브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560320" cy="39319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_w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2560320" cy="22860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8862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B2030"/>
                </a:solidFill>
                <a:latin typeface="맑은 고딕"/>
                <a:ea typeface="맑은 고딕"/>
              </a:rPr>
              <a:t>웨이브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원귀가 사방에서 몰려온다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3163824" y="3200400"/>
            <a:ext cx="153619" cy="219456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398824" y="1371600"/>
            <a:ext cx="2560320" cy="39319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_w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824" y="1371600"/>
            <a:ext cx="2560320" cy="2286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3581704" y="3886200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81704" y="3886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4624" y="38862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B2030"/>
                </a:solidFill>
                <a:latin typeface="맑은 고딕"/>
                <a:ea typeface="맑은 고딕"/>
              </a:rPr>
              <a:t>3분 버티기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1704" y="4480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쓸어내고 영혼을 줍는다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6014008" y="3200400"/>
            <a:ext cx="153619" cy="219456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249009" y="1371600"/>
            <a:ext cx="2560320" cy="39319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_w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009" y="1371600"/>
            <a:ext cx="2560320" cy="2286000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6431889" y="3886200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1889" y="3886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4809" y="38862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B2030"/>
                </a:solidFill>
                <a:latin typeface="맑은 고딕"/>
                <a:ea typeface="맑은 고딕"/>
              </a:rPr>
              <a:t>웨이브 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1889" y="4480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남은 원귀는 원한으로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8864193" y="3200400"/>
            <a:ext cx="153619" cy="219456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099194" y="1371600"/>
            <a:ext cx="2560320" cy="39319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_w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194" y="1371600"/>
            <a:ext cx="2560320" cy="22860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9282074" y="3886200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82074" y="3886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994" y="38862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B2030"/>
                </a:solidFill>
                <a:latin typeface="맑은 고딕"/>
                <a:ea typeface="맑은 고딕"/>
              </a:rPr>
              <a:t>정비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2074" y="4480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쓰러진 동료 부활 · 체력 회복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3262E"/>
                </a:solidFill>
                <a:latin typeface="맑은 고딕"/>
                <a:ea typeface="맑은 고딕"/>
              </a:rPr>
              <a:t>이 3분을 10번 반복한다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싸우는 방식 · 자동 공격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12063" y="1335024"/>
            <a:ext cx="6473952" cy="4187952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pi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0" cy="41148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7406640" y="1508760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0" y="1508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14630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이동만 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19202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공격은 버튼 없이 자동</a:t>
            </a:r>
          </a:p>
        </p:txBody>
      </p:sp>
      <p:sp>
        <p:nvSpPr>
          <p:cNvPr id="32" name="Oval 31"/>
          <p:cNvSpPr/>
          <p:nvPr/>
        </p:nvSpPr>
        <p:spPr>
          <a:xfrm>
            <a:off x="7406640" y="2834639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0" y="28346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7889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마우스로 방향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2461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공격은 마우스 쪽으로 나간다</a:t>
            </a:r>
          </a:p>
        </p:txBody>
      </p:sp>
      <p:sp>
        <p:nvSpPr>
          <p:cNvPr id="36" name="Oval 35"/>
          <p:cNvSpPr/>
          <p:nvPr/>
        </p:nvSpPr>
        <p:spPr>
          <a:xfrm>
            <a:off x="7406640" y="4160520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0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1148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캐릭터마다 무기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5720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칼은 휘두르고, 부적은 날린다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쓰러지면 · 관전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12063" y="1335024"/>
            <a:ext cx="3502152" cy="2473452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dow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429000" cy="24003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548640" y="3977639"/>
            <a:ext cx="384048" cy="384048"/>
          </a:xfrm>
          <a:prstGeom prst="ellipse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9776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95935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쓰러짐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40740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쓰러지는 모션 후 조작 불가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4087368" y="2423160"/>
            <a:ext cx="166420" cy="237744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52544" y="1335024"/>
            <a:ext cx="3502152" cy="2473452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dow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71600"/>
            <a:ext cx="3429000" cy="24003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4389120" y="3977639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39776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95935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관전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40740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동료의 화면을 본다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7927848" y="2423160"/>
            <a:ext cx="166420" cy="237744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93024" y="1335024"/>
            <a:ext cx="3502152" cy="2473452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dow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371600"/>
            <a:ext cx="3429000" cy="2400300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8229600" y="3977639"/>
            <a:ext cx="384048" cy="384048"/>
          </a:xfrm>
          <a:prstGeom prst="ellipse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39776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95935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부활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40740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웨이브 끝 징이 울리면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57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3262E"/>
                </a:solidFill>
                <a:latin typeface="맑은 고딕"/>
                <a:ea typeface="맑은 고딕"/>
              </a:rPr>
              <a:t>최종전은 부활 없음 · 둘 다 쓰러지면 게임 오버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5166360"/>
            <a:ext cx="4434840" cy="548640"/>
          </a:xfrm>
          <a:prstGeom prst="roundRect">
            <a:avLst>
              <a:gd name="adj" fmla="val 15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06640" y="51663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07A1A"/>
                </a:solidFill>
                <a:latin typeface="맑은 고딕"/>
                <a:ea typeface="맑은 고딕"/>
              </a:rPr>
              <a:t>재미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5166360"/>
            <a:ext cx="342899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2030"/>
                </a:solidFill>
                <a:latin typeface="맑은 고딕"/>
                <a:ea typeface="맑은 고딕"/>
              </a:rPr>
              <a:t>남은 한 명이 버티는 긴장, 지켜보는 응원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원한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12063" y="1335024"/>
            <a:ext cx="6656832" cy="347472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gr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583680" cy="34015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493776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웨이브 끝에 남은 원귀 1마리 = 원한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5029200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0" y="50292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07A1A"/>
                </a:solidFill>
                <a:latin typeface="맑은 고딕"/>
                <a:ea typeface="맑은 고딕"/>
              </a:rPr>
              <a:t>재미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0292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2030"/>
                </a:solidFill>
                <a:latin typeface="맑은 고딕"/>
                <a:ea typeface="맑은 고딕"/>
              </a:rPr>
              <a:t>끝까지 쓸어낼 이유가 생긴다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3258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원한이 짙을수록 억쇠가 거칠어진다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874519"/>
            <a:ext cx="4023360" cy="621792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1874519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030"/>
                </a:solidFill>
                <a:latin typeface="맑은 고딕"/>
                <a:ea typeface="맑은 고딕"/>
              </a:rPr>
              <a:t>맑음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1874519"/>
            <a:ext cx="2468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기본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2624327"/>
            <a:ext cx="4023360" cy="621792"/>
          </a:xfrm>
          <a:prstGeom prst="roundRect">
            <a:avLst>
              <a:gd name="adj" fmla="val 12000"/>
            </a:avLst>
          </a:prstGeom>
          <a:solidFill>
            <a:srgbClr val="D7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20" y="2624327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030"/>
                </a:solidFill>
                <a:latin typeface="맑은 고딕"/>
                <a:ea typeface="맑은 고딕"/>
              </a:rPr>
              <a:t>짙음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835195"/>
            <a:ext cx="24688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1B2030"/>
                </a:solidFill>
                <a:latin typeface="맑은 고딕"/>
                <a:ea typeface="맑은 고딕"/>
              </a:rPr>
              <a:t>능력치 강화</a:t>
            </a:r>
            <a:endParaRPr sz="1300" b="0" dirty="0">
              <a:solidFill>
                <a:srgbClr val="1B2030"/>
              </a:solidFill>
              <a:latin typeface="맑은 고딕"/>
              <a:ea typeface="맑은 고딕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589520" y="3374135"/>
            <a:ext cx="4023360" cy="621792"/>
          </a:xfrm>
          <a:prstGeom prst="roundRect">
            <a:avLst>
              <a:gd name="adj" fmla="val 12000"/>
            </a:avLst>
          </a:prstGeom>
          <a:solidFill>
            <a:srgbClr val="9E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20" y="3374135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한(恨)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585003"/>
            <a:ext cx="24688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b="0" dirty="0">
                <a:solidFill>
                  <a:srgbClr val="FFFFFF"/>
                </a:solidFill>
                <a:latin typeface="맑은 고딕"/>
                <a:ea typeface="맑은 고딕"/>
              </a:rPr>
              <a:t>패턴 소폭 강화</a:t>
            </a:r>
            <a:endParaRPr sz="1300" b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589520" y="4123944"/>
            <a:ext cx="4023360" cy="621792"/>
          </a:xfrm>
          <a:prstGeom prst="roundRect">
            <a:avLst>
              <a:gd name="adj" fmla="val 12000"/>
            </a:avLst>
          </a:prstGeom>
          <a:solidFill>
            <a:srgbClr val="6E1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18120" y="4123944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폭주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123944"/>
            <a:ext cx="2468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고유 패턴 강화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원귀 3종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13716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2430475"/>
            <a:ext cx="623620" cy="1227124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799" y="2450592"/>
            <a:ext cx="724204" cy="120700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7284" y="2430475"/>
            <a:ext cx="905256" cy="12271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59" y="40690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B2030"/>
                </a:solidFill>
                <a:latin typeface="맑은 고딕"/>
                <a:ea typeface="맑은 고딕"/>
              </a:rPr>
              <a:t>몽달귀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6177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3262E"/>
                </a:solidFill>
                <a:latin typeface="맑은 고딕"/>
                <a:ea typeface="맑은 고딕"/>
              </a:rPr>
              <a:t>기본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617720"/>
            <a:ext cx="23774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느리게, 떼로 몰려온다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540" y="13716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320540" y="13716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31059"/>
            <a:ext cx="925372" cy="112654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1692" y="2531059"/>
            <a:ext cx="885139" cy="112654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2510942"/>
            <a:ext cx="704087" cy="114665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594859" y="40690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B2030"/>
                </a:solidFill>
                <a:latin typeface="맑은 고딕"/>
                <a:ea typeface="맑은 고딕"/>
              </a:rPr>
              <a:t>달걀귀신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4859" y="46177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3262E"/>
                </a:solidFill>
                <a:latin typeface="맑은 고딕"/>
                <a:ea typeface="맑은 고딕"/>
              </a:rPr>
              <a:t>돌격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6379" y="4617720"/>
            <a:ext cx="23774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얼굴 없이 빠르게 돌진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13716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092440" y="13716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2538" y="2430475"/>
            <a:ext cx="1126540" cy="1227124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3359" y="2430475"/>
            <a:ext cx="885139" cy="1227124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42778" y="2450592"/>
            <a:ext cx="985723" cy="12070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366760" y="40690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B2030"/>
                </a:solidFill>
                <a:latin typeface="맑은 고딕"/>
                <a:ea typeface="맑은 고딕"/>
              </a:rPr>
              <a:t>손각시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6177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3262E"/>
                </a:solidFill>
                <a:latin typeface="맑은 고딕"/>
                <a:ea typeface="맑은 고딕"/>
              </a:rPr>
              <a:t>정예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4617720"/>
            <a:ext cx="23774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030"/>
                </a:solidFill>
                <a:latin typeface="맑은 고딕"/>
                <a:ea typeface="맑은 고딕"/>
              </a:rPr>
              <a:t>단단하고, 곁에 가면 느려진다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3종 모두 1웨이브부터 섞여 나온다 · 종마다 외형 3가지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캐릭터 구성</a:t>
            </a:r>
            <a:endParaRPr lang="en-US" sz="3200" dirty="0"/>
          </a:p>
        </p:txBody>
      </p:sp>
      <p:sp>
        <p:nvSpPr>
          <p:cNvPr id="3" name="ch_col_t_0"/>
          <p:cNvSpPr txBox="1"/>
          <p:nvPr/>
        </p:nvSpPr>
        <p:spPr>
          <a:xfrm>
            <a:off x="210312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근접</a:t>
            </a:r>
            <a:endParaRPr lang="en-US" sz="2000" dirty="0"/>
          </a:p>
        </p:txBody>
      </p:sp>
      <p:sp>
        <p:nvSpPr>
          <p:cNvPr id="4" name="ch_col_d_0"/>
          <p:cNvSpPr txBox="1"/>
          <p:nvPr/>
        </p:nvSpPr>
        <p:spPr>
          <a:xfrm>
            <a:off x="210312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적 무리 속으로 파고든다 · 체력이 높고 사거리가 짧다</a:t>
            </a:r>
            <a:endParaRPr lang="en-US" sz="1400" dirty="0"/>
          </a:p>
        </p:txBody>
      </p:sp>
      <p:sp>
        <p:nvSpPr>
          <p:cNvPr id="5" name="ch_col_t_1"/>
          <p:cNvSpPr txBox="1"/>
          <p:nvPr/>
        </p:nvSpPr>
        <p:spPr>
          <a:xfrm>
            <a:off x="699516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원거리</a:t>
            </a:r>
            <a:endParaRPr lang="en-US" sz="2000" dirty="0"/>
          </a:p>
        </p:txBody>
      </p:sp>
      <p:sp>
        <p:nvSpPr>
          <p:cNvPr id="6" name="ch_col_d_1"/>
          <p:cNvSpPr txBox="1"/>
          <p:nvPr/>
        </p:nvSpPr>
        <p:spPr>
          <a:xfrm>
            <a:off x="699516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거리를 두고 견제한다 · 사거리가 길고 체력이 낮다</a:t>
            </a:r>
            <a:endParaRPr lang="en-US" sz="1400" dirty="0"/>
          </a:p>
        </p:txBody>
      </p:sp>
      <p:sp>
        <p:nvSpPr>
          <p:cNvPr id="7" name="ch_row_bg_0"/>
          <p:cNvSpPr/>
          <p:nvPr/>
        </p:nvSpPr>
        <p:spPr>
          <a:xfrm>
            <a:off x="548640" y="214884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ch_row_t_0"/>
          <p:cNvSpPr txBox="1"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단일</a:t>
            </a:r>
            <a:endParaRPr lang="en-US" sz="2000" dirty="0"/>
          </a:p>
        </p:txBody>
      </p:sp>
      <p:sp>
        <p:nvSpPr>
          <p:cNvPr id="9" name="ch_row_d_0"/>
          <p:cNvSpPr txBox="1"/>
          <p:nvPr/>
        </p:nvSpPr>
        <p:spPr>
          <a:xfrm>
            <a:off x="54864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한 대상을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강하게</a:t>
            </a:r>
            <a:endParaRPr lang="en-US" sz="1200" dirty="0"/>
          </a:p>
        </p:txBody>
      </p:sp>
      <p:sp>
        <p:nvSpPr>
          <p:cNvPr id="10" name="ch_row_bg_1"/>
          <p:cNvSpPr/>
          <p:nvPr/>
        </p:nvSpPr>
        <p:spPr>
          <a:xfrm>
            <a:off x="548640" y="40690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ch_row_t_1"/>
          <p:cNvSpPr txBox="1"/>
          <p:nvPr/>
        </p:nvSpPr>
        <p:spPr>
          <a:xfrm>
            <a:off x="548640" y="4389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다중</a:t>
            </a:r>
            <a:endParaRPr lang="en-US" sz="2000" dirty="0"/>
          </a:p>
        </p:txBody>
      </p:sp>
      <p:sp>
        <p:nvSpPr>
          <p:cNvPr id="12" name="ch_row_d_1"/>
          <p:cNvSpPr txBox="1"/>
          <p:nvPr/>
        </p:nvSpPr>
        <p:spPr>
          <a:xfrm>
            <a:off x="548640" y="4892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여러 대상을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한 번에</a:t>
            </a:r>
            <a:endParaRPr lang="en-US" sz="1200" dirty="0"/>
          </a:p>
        </p:txBody>
      </p:sp>
      <p:sp>
        <p:nvSpPr>
          <p:cNvPr id="13" name="ch_cell_0"/>
          <p:cNvSpPr/>
          <p:nvPr/>
        </p:nvSpPr>
        <p:spPr>
          <a:xfrm>
            <a:off x="2103120" y="2148840"/>
            <a:ext cx="4663440" cy="1783080"/>
          </a:xfrm>
          <a:prstGeom prst="roundRect">
            <a:avLst>
              <a:gd name="adj" fmla="val 6154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ch_cell_t_0"/>
          <p:cNvSpPr txBox="1"/>
          <p:nvPr/>
        </p:nvSpPr>
        <p:spPr>
          <a:xfrm>
            <a:off x="2377440" y="23317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2"/>
                </a:solidFill>
              </a:rPr>
              <a:t>적은 수의 적을 빠르게 처리한다</a:t>
            </a:r>
            <a:endParaRPr lang="en-US" sz="1600" dirty="0"/>
          </a:p>
        </p:txBody>
      </p:sp>
      <p:pic>
        <p:nvPicPr>
          <p:cNvPr id="15" name="ch_spr_0_0" descr="/tmp/claude-0/-home-claude/d5f48452-305e-51fe-9a7c-9dfa0c30073e/scratchpad/deck/a/ParkKyuhyu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955" y="2258568"/>
            <a:ext cx="738170" cy="1097280"/>
          </a:xfrm>
          <a:prstGeom prst="rect">
            <a:avLst/>
          </a:prstGeom>
        </p:spPr>
      </p:pic>
      <p:sp>
        <p:nvSpPr>
          <p:cNvPr id="16" name="ch_nm_0_0"/>
          <p:cNvSpPr txBox="1"/>
          <p:nvPr/>
        </p:nvSpPr>
        <p:spPr>
          <a:xfrm>
            <a:off x="4297680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박규혁</a:t>
            </a:r>
            <a:endParaRPr lang="en-US" sz="1300" dirty="0"/>
          </a:p>
        </p:txBody>
      </p:sp>
      <p:sp>
        <p:nvSpPr>
          <p:cNvPr id="17" name="ch_wp_0_0"/>
          <p:cNvSpPr txBox="1"/>
          <p:nvPr/>
        </p:nvSpPr>
        <p:spPr>
          <a:xfrm>
            <a:off x="429768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삼지창</a:t>
            </a:r>
            <a:endParaRPr lang="en-US" sz="1100" dirty="0"/>
          </a:p>
        </p:txBody>
      </p:sp>
      <p:pic>
        <p:nvPicPr>
          <p:cNvPr id="18" name="ch_spr_0_1" descr="/tmp/claude-0/-home-claude/d5f48452-305e-51fe-9a7c-9dfa0c30073e/scratchpad/deck/a/LimH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551" y="2258568"/>
            <a:ext cx="638417" cy="1097280"/>
          </a:xfrm>
          <a:prstGeom prst="rect">
            <a:avLst/>
          </a:prstGeom>
        </p:spPr>
      </p:pic>
      <p:sp>
        <p:nvSpPr>
          <p:cNvPr id="19" name="ch_nm_0_1"/>
          <p:cNvSpPr txBox="1"/>
          <p:nvPr/>
        </p:nvSpPr>
        <p:spPr>
          <a:xfrm>
            <a:off x="5486400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임훈</a:t>
            </a:r>
            <a:endParaRPr lang="en-US" sz="1300" dirty="0"/>
          </a:p>
        </p:txBody>
      </p:sp>
      <p:sp>
        <p:nvSpPr>
          <p:cNvPr id="20" name="ch_wp_0_1"/>
          <p:cNvSpPr txBox="1"/>
          <p:nvPr/>
        </p:nvSpPr>
        <p:spPr>
          <a:xfrm>
            <a:off x="548640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창</a:t>
            </a:r>
            <a:endParaRPr lang="en-US" sz="1100" dirty="0"/>
          </a:p>
        </p:txBody>
      </p:sp>
      <p:sp>
        <p:nvSpPr>
          <p:cNvPr id="21" name="ch_cell_1"/>
          <p:cNvSpPr/>
          <p:nvPr/>
        </p:nvSpPr>
        <p:spPr>
          <a:xfrm>
            <a:off x="6995160" y="2148840"/>
            <a:ext cx="4663440" cy="1783080"/>
          </a:xfrm>
          <a:prstGeom prst="roundRect">
            <a:avLst>
              <a:gd name="adj" fmla="val 6154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ch_cell_t_1"/>
          <p:cNvSpPr txBox="1"/>
          <p:nvPr/>
        </p:nvSpPr>
        <p:spPr>
          <a:xfrm>
            <a:off x="7269480" y="23317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멀리서 </a:t>
            </a:r>
            <a:r>
              <a:rPr lang="en-US" sz="1600" b="1" dirty="0" err="1">
                <a:solidFill>
                  <a:schemeClr val="tx2"/>
                </a:solidFill>
              </a:rPr>
              <a:t>하나씩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en-US" sz="1600" b="1" dirty="0" err="1">
                <a:solidFill>
                  <a:schemeClr val="tx2"/>
                </a:solidFill>
              </a:rPr>
              <a:t>정확하게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ko-KR" altLang="en-US" sz="1600" b="1" dirty="0">
                <a:solidFill>
                  <a:schemeClr val="tx2"/>
                </a:solidFill>
              </a:rPr>
              <a:t>처리한다</a:t>
            </a:r>
            <a:endParaRPr lang="en-US" sz="1600" dirty="0"/>
          </a:p>
        </p:txBody>
      </p:sp>
      <p:pic>
        <p:nvPicPr>
          <p:cNvPr id="23" name="ch_spr_1_0" descr="/tmp/claude-0/-home-claude/d5f48452-305e-51fe-9a7c-9dfa0c30073e/scratchpad/deck/a/HanJuw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789" y="2258568"/>
            <a:ext cx="654341" cy="1097280"/>
          </a:xfrm>
          <a:prstGeom prst="rect">
            <a:avLst/>
          </a:prstGeom>
        </p:spPr>
      </p:pic>
      <p:sp>
        <p:nvSpPr>
          <p:cNvPr id="24" name="ch_nm_1_0"/>
          <p:cNvSpPr txBox="1"/>
          <p:nvPr/>
        </p:nvSpPr>
        <p:spPr>
          <a:xfrm>
            <a:off x="9189720" y="3364992"/>
            <a:ext cx="79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한주원</a:t>
            </a:r>
            <a:endParaRPr lang="en-US" sz="1300" dirty="0"/>
          </a:p>
        </p:txBody>
      </p:sp>
      <p:sp>
        <p:nvSpPr>
          <p:cNvPr id="25" name="ch_wp_1_0"/>
          <p:cNvSpPr txBox="1"/>
          <p:nvPr/>
        </p:nvSpPr>
        <p:spPr>
          <a:xfrm>
            <a:off x="9189720" y="3611880"/>
            <a:ext cx="79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부적</a:t>
            </a:r>
            <a:endParaRPr lang="en-US" sz="1100" dirty="0"/>
          </a:p>
        </p:txBody>
      </p:sp>
      <p:pic>
        <p:nvPicPr>
          <p:cNvPr id="26" name="ch_spr_1_1" descr="/tmp/claude-0/-home-claude/d5f48452-305e-51fe-9a7c-9dfa0c30073e/scratchpad/deck/a/LeeA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093" y="2258568"/>
            <a:ext cx="526694" cy="1097280"/>
          </a:xfrm>
          <a:prstGeom prst="rect">
            <a:avLst/>
          </a:prstGeom>
        </p:spPr>
      </p:pic>
      <p:sp>
        <p:nvSpPr>
          <p:cNvPr id="27" name="ch_nm_1_1"/>
          <p:cNvSpPr txBox="1"/>
          <p:nvPr/>
        </p:nvSpPr>
        <p:spPr>
          <a:xfrm>
            <a:off x="9982200" y="3364992"/>
            <a:ext cx="79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이아라</a:t>
            </a:r>
            <a:endParaRPr lang="en-US" sz="1300" dirty="0"/>
          </a:p>
        </p:txBody>
      </p:sp>
      <p:sp>
        <p:nvSpPr>
          <p:cNvPr id="28" name="ch_wp_1_1"/>
          <p:cNvSpPr txBox="1"/>
          <p:nvPr/>
        </p:nvSpPr>
        <p:spPr>
          <a:xfrm>
            <a:off x="9982200" y="3611880"/>
            <a:ext cx="79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신칼</a:t>
            </a:r>
            <a:endParaRPr lang="en-US" sz="1100" dirty="0"/>
          </a:p>
        </p:txBody>
      </p:sp>
      <p:pic>
        <p:nvPicPr>
          <p:cNvPr id="29" name="ch_spr_1_2" descr="/tmp/claude-0/-home-claude/d5f48452-305e-51fe-9a7c-9dfa0c30073e/scratchpad/deck/a/ChoiHwanj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9034" y="2258568"/>
            <a:ext cx="783771" cy="1097280"/>
          </a:xfrm>
          <a:prstGeom prst="rect">
            <a:avLst/>
          </a:prstGeom>
        </p:spPr>
      </p:pic>
      <p:sp>
        <p:nvSpPr>
          <p:cNvPr id="30" name="ch_nm_1_2"/>
          <p:cNvSpPr txBox="1"/>
          <p:nvPr/>
        </p:nvSpPr>
        <p:spPr>
          <a:xfrm>
            <a:off x="10774680" y="3364992"/>
            <a:ext cx="79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최환조</a:t>
            </a:r>
            <a:endParaRPr lang="en-US" sz="1300" dirty="0"/>
          </a:p>
        </p:txBody>
      </p:sp>
      <p:sp>
        <p:nvSpPr>
          <p:cNvPr id="31" name="ch_wp_1_2"/>
          <p:cNvSpPr txBox="1"/>
          <p:nvPr/>
        </p:nvSpPr>
        <p:spPr>
          <a:xfrm>
            <a:off x="10774680" y="3611880"/>
            <a:ext cx="79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활</a:t>
            </a:r>
            <a:endParaRPr lang="en-US" sz="1100" dirty="0"/>
          </a:p>
        </p:txBody>
      </p:sp>
      <p:sp>
        <p:nvSpPr>
          <p:cNvPr id="32" name="ch_cell_2"/>
          <p:cNvSpPr/>
          <p:nvPr/>
        </p:nvSpPr>
        <p:spPr>
          <a:xfrm>
            <a:off x="2103120" y="4069080"/>
            <a:ext cx="4663440" cy="1783080"/>
          </a:xfrm>
          <a:prstGeom prst="roundRect">
            <a:avLst>
              <a:gd name="adj" fmla="val 6154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ch_cell_t_2"/>
          <p:cNvSpPr txBox="1"/>
          <p:nvPr/>
        </p:nvSpPr>
        <p:spPr>
          <a:xfrm>
            <a:off x="2377440" y="42519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휘둘러서 무리를 베어낸다</a:t>
            </a:r>
            <a:endParaRPr lang="en-US" sz="1600" dirty="0"/>
          </a:p>
        </p:txBody>
      </p:sp>
      <p:pic>
        <p:nvPicPr>
          <p:cNvPr id="34" name="ch_spr_2_0" descr="/tmp/claude-0/-home-claude/d5f48452-305e-51fe-9a7c-9dfa0c30073e/scratchpad/deck/a/HaYou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9769" y="4178808"/>
            <a:ext cx="884542" cy="1097280"/>
          </a:xfrm>
          <a:prstGeom prst="rect">
            <a:avLst/>
          </a:prstGeom>
        </p:spPr>
      </p:pic>
      <p:sp>
        <p:nvSpPr>
          <p:cNvPr id="35" name="ch_nm_2_0"/>
          <p:cNvSpPr txBox="1"/>
          <p:nvPr/>
        </p:nvSpPr>
        <p:spPr>
          <a:xfrm>
            <a:off x="429768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하영</a:t>
            </a:r>
            <a:endParaRPr lang="en-US" sz="1300" dirty="0"/>
          </a:p>
        </p:txBody>
      </p:sp>
      <p:sp>
        <p:nvSpPr>
          <p:cNvPr id="36" name="ch_wp_2_0"/>
          <p:cNvSpPr txBox="1"/>
          <p:nvPr/>
        </p:nvSpPr>
        <p:spPr>
          <a:xfrm>
            <a:off x="4297680" y="5532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사인검</a:t>
            </a:r>
            <a:endParaRPr lang="en-US" sz="1100" dirty="0"/>
          </a:p>
        </p:txBody>
      </p:sp>
      <p:pic>
        <p:nvPicPr>
          <p:cNvPr id="37" name="ch_spr_2_1" descr="/tmp/claude-0/-home-claude/d5f48452-305e-51fe-9a7c-9dfa0c30073e/scratchpad/deck/a/ShinJihyu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2475" y="4178808"/>
            <a:ext cx="656569" cy="1097280"/>
          </a:xfrm>
          <a:prstGeom prst="rect">
            <a:avLst/>
          </a:prstGeom>
        </p:spPr>
      </p:pic>
      <p:sp>
        <p:nvSpPr>
          <p:cNvPr id="38" name="ch_nm_2_1"/>
          <p:cNvSpPr txBox="1"/>
          <p:nvPr/>
        </p:nvSpPr>
        <p:spPr>
          <a:xfrm>
            <a:off x="548640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신지현</a:t>
            </a:r>
            <a:endParaRPr lang="en-US" sz="1300" dirty="0"/>
          </a:p>
        </p:txBody>
      </p:sp>
      <p:sp>
        <p:nvSpPr>
          <p:cNvPr id="39" name="ch_wp_2_1"/>
          <p:cNvSpPr txBox="1"/>
          <p:nvPr/>
        </p:nvSpPr>
        <p:spPr>
          <a:xfrm>
            <a:off x="5486400" y="5532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곡도</a:t>
            </a:r>
            <a:endParaRPr lang="en-US" sz="1100" dirty="0"/>
          </a:p>
        </p:txBody>
      </p:sp>
      <p:sp>
        <p:nvSpPr>
          <p:cNvPr id="40" name="ch_cell_3"/>
          <p:cNvSpPr/>
          <p:nvPr/>
        </p:nvSpPr>
        <p:spPr>
          <a:xfrm>
            <a:off x="6995160" y="4069080"/>
            <a:ext cx="4663440" cy="1783080"/>
          </a:xfrm>
          <a:prstGeom prst="roundRect">
            <a:avLst>
              <a:gd name="adj" fmla="val 6154"/>
            </a:avLst>
          </a:prstGeom>
          <a:solidFill>
            <a:srgbClr val="EDF0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ch_cell_t_3"/>
          <p:cNvSpPr txBox="1"/>
          <p:nvPr/>
        </p:nvSpPr>
        <p:spPr>
          <a:xfrm>
            <a:off x="7269480" y="42519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넓게 밀어내 길을 연다</a:t>
            </a:r>
            <a:endParaRPr lang="en-US" sz="1600" dirty="0"/>
          </a:p>
        </p:txBody>
      </p:sp>
      <p:pic>
        <p:nvPicPr>
          <p:cNvPr id="42" name="ch_spr_3_0" descr="/tmp/claude-0/-home-claude/d5f48452-305e-51fe-9a7c-9dfa0c30073e/scratchpad/deck/a/ShimYe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8845" y="4178808"/>
            <a:ext cx="859191" cy="1097280"/>
          </a:xfrm>
          <a:prstGeom prst="rect">
            <a:avLst/>
          </a:prstGeom>
        </p:spPr>
      </p:pic>
      <p:sp>
        <p:nvSpPr>
          <p:cNvPr id="43" name="ch_nm_3_0"/>
          <p:cNvSpPr txBox="1"/>
          <p:nvPr/>
        </p:nvSpPr>
        <p:spPr>
          <a:xfrm>
            <a:off x="9189720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심여레</a:t>
            </a:r>
            <a:endParaRPr lang="en-US" sz="1300" dirty="0"/>
          </a:p>
        </p:txBody>
      </p:sp>
      <p:sp>
        <p:nvSpPr>
          <p:cNvPr id="44" name="ch_wp_3_0"/>
          <p:cNvSpPr txBox="1"/>
          <p:nvPr/>
        </p:nvSpPr>
        <p:spPr>
          <a:xfrm>
            <a:off x="9189720" y="5532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부채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46" name="ch_rule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처음엔 하영만 · 나머지 7명은 엽전으로 해금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성장 · 판 안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030"/>
                </a:solidFill>
                <a:latin typeface="맑은 고딕"/>
                <a:ea typeface="맑은 고딕"/>
              </a:rPr>
              <a:t>레벨업하면 게임이 멈추고, 각자 3장 중 1장을 고른다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196596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572768" y="2075688"/>
            <a:ext cx="2432304" cy="307238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86000" y="2423160"/>
            <a:ext cx="1005840" cy="100584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c_sw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651760"/>
            <a:ext cx="548640" cy="5486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31" name="TextBox 30"/>
          <p:cNvSpPr txBox="1"/>
          <p:nvPr/>
        </p:nvSpPr>
        <p:spPr>
          <a:xfrm>
            <a:off x="1463040" y="37033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251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B8C2D9"/>
                </a:solidFill>
                <a:latin typeface="맑은 고딕"/>
                <a:ea typeface="맑은 고딕"/>
              </a:rPr>
              <a:t>능력치 강화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196596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818888" y="2075688"/>
            <a:ext cx="2432304" cy="307238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532120" y="2423160"/>
            <a:ext cx="1005840" cy="100584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651760"/>
            <a:ext cx="548640" cy="5486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37" name="TextBox 36"/>
          <p:cNvSpPr txBox="1"/>
          <p:nvPr/>
        </p:nvSpPr>
        <p:spPr>
          <a:xfrm>
            <a:off x="4709160" y="37033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전용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251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B8C2D9"/>
                </a:solidFill>
                <a:latin typeface="맑은 고딕"/>
                <a:ea typeface="맑은 고딕"/>
              </a:rPr>
              <a:t>무기가 바뀐다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196596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65007" y="2075688"/>
            <a:ext cx="2432304" cy="307238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778240" y="2423160"/>
            <a:ext cx="1005840" cy="100584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c_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651760"/>
            <a:ext cx="548640" cy="5486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3" name="TextBox 42"/>
          <p:cNvSpPr txBox="1"/>
          <p:nvPr/>
        </p:nvSpPr>
        <p:spPr>
          <a:xfrm>
            <a:off x="7955279" y="37033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일회용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251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B8C2D9"/>
                </a:solidFill>
                <a:latin typeface="맑은 고딕"/>
                <a:ea typeface="맑은 고딕"/>
              </a:rPr>
              <a:t>즉시 효과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3262E"/>
                </a:solidFill>
                <a:latin typeface="맑은 고딕"/>
                <a:ea typeface="맑은 고딕"/>
              </a:rPr>
              <a:t>최대 6칸 · 칸마다 5단계까지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성장 · 판 밖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030"/>
                </a:solidFill>
                <a:latin typeface="맑은 고딕"/>
                <a:ea typeface="맑은 고딕"/>
              </a:rPr>
              <a:t>모은 엽전으로 해금하고 키운다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92024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" y="2240280"/>
            <a:ext cx="1341120" cy="1463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B2030"/>
                </a:solidFill>
                <a:latin typeface="맑은 고딕"/>
                <a:ea typeface="맑은 고딕"/>
              </a:rPr>
              <a:t>엽전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2880360" y="2286000"/>
            <a:ext cx="192024" cy="274320"/>
          </a:xfrm>
          <a:prstGeom prst="triangl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/>
          <p:cNvSpPr/>
          <p:nvPr/>
        </p:nvSpPr>
        <p:spPr>
          <a:xfrm rot="5400000">
            <a:off x="2880360" y="4343400"/>
            <a:ext cx="192024" cy="274320"/>
          </a:xfrm>
          <a:prstGeom prst="triangl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383280" y="1783080"/>
            <a:ext cx="8229600" cy="1874519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1880" y="187451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캐릭터 해금</a:t>
            </a:r>
          </a:p>
        </p:txBody>
      </p:sp>
      <p:pic>
        <p:nvPicPr>
          <p:cNvPr id="34" name="Picture 33" descr="HanJuwon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733" y="2286000"/>
            <a:ext cx="736133" cy="1234440"/>
          </a:xfrm>
          <a:prstGeom prst="rect">
            <a:avLst/>
          </a:prstGeom>
        </p:spPr>
      </p:pic>
      <p:pic>
        <p:nvPicPr>
          <p:cNvPr id="35" name="Picture 34" descr="ParkKyuhyuk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859" y="2286000"/>
            <a:ext cx="830441" cy="1234440"/>
          </a:xfrm>
          <a:prstGeom prst="rect">
            <a:avLst/>
          </a:prstGeom>
        </p:spPr>
      </p:pic>
      <p:pic>
        <p:nvPicPr>
          <p:cNvPr id="36" name="Picture 35" descr="LeeAra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094" y="2286000"/>
            <a:ext cx="592531" cy="1234440"/>
          </a:xfrm>
          <a:prstGeom prst="rect">
            <a:avLst/>
          </a:prstGeom>
        </p:spPr>
      </p:pic>
      <p:pic>
        <p:nvPicPr>
          <p:cNvPr id="37" name="Picture 36" descr="ChoiHwanjo_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5768" y="2286000"/>
            <a:ext cx="881742" cy="1234440"/>
          </a:xfrm>
          <a:prstGeom prst="rect">
            <a:avLst/>
          </a:prstGeom>
        </p:spPr>
      </p:pic>
      <p:pic>
        <p:nvPicPr>
          <p:cNvPr id="38" name="Picture 37" descr="ShinJihyun_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4599" y="2286000"/>
            <a:ext cx="738640" cy="1234440"/>
          </a:xfrm>
          <a:prstGeom prst="rect">
            <a:avLst/>
          </a:prstGeom>
        </p:spPr>
      </p:pic>
      <p:pic>
        <p:nvPicPr>
          <p:cNvPr id="39" name="Picture 38" descr="LimHoon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2090" y="2286000"/>
            <a:ext cx="718219" cy="1234440"/>
          </a:xfrm>
          <a:prstGeom prst="rect">
            <a:avLst/>
          </a:prstGeom>
        </p:spPr>
      </p:pic>
      <p:pic>
        <p:nvPicPr>
          <p:cNvPr id="40" name="Picture 39" descr="ShimYeore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1280" y="2319326"/>
            <a:ext cx="914400" cy="1167787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3383280" y="3840480"/>
            <a:ext cx="8229600" cy="192024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11880" y="3931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스킬트리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4572000"/>
            <a:ext cx="914400" cy="640080"/>
          </a:xfrm>
          <a:prstGeom prst="roundRect">
            <a:avLst>
              <a:gd name="adj" fmla="val 15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0" y="45720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기본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645152" y="4754880"/>
            <a:ext cx="140817" cy="201168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892040" y="4572000"/>
            <a:ext cx="1920240" cy="640080"/>
          </a:xfrm>
          <a:prstGeom prst="roundRect">
            <a:avLst>
              <a:gd name="adj" fmla="val 15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92040" y="457200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무기 / 패시브 / 협동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6885431" y="4754880"/>
            <a:ext cx="140817" cy="201168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132319" y="4572000"/>
            <a:ext cx="914400" cy="640080"/>
          </a:xfrm>
          <a:prstGeom prst="roundRect">
            <a:avLst>
              <a:gd name="adj" fmla="val 15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19" y="45720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관문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8119871" y="4754880"/>
            <a:ext cx="140817" cy="201168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366759" y="4572000"/>
            <a:ext cx="1463040" cy="640080"/>
          </a:xfrm>
          <a:prstGeom prst="roundRect">
            <a:avLst>
              <a:gd name="adj" fmla="val 15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66759" y="45720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갈래 A / B</a:t>
            </a:r>
          </a:p>
        </p:txBody>
      </p:sp>
      <p:sp>
        <p:nvSpPr>
          <p:cNvPr id="54" name="Isosceles Triangle 53"/>
          <p:cNvSpPr/>
          <p:nvPr/>
        </p:nvSpPr>
        <p:spPr>
          <a:xfrm rot="5400000">
            <a:off x="9902951" y="4754880"/>
            <a:ext cx="140817" cy="201168"/>
          </a:xfrm>
          <a:prstGeom prst="triangle">
            <a:avLst/>
          </a:prstGeom>
          <a:solidFill>
            <a:srgbClr val="7C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149839" y="4572000"/>
            <a:ext cx="914400" cy="640080"/>
          </a:xfrm>
          <a:prstGeom prst="roundRect">
            <a:avLst>
              <a:gd name="adj" fmla="val 15000"/>
            </a:avLst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49839" y="45720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각성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고르지 않은 갈래는 잠긴다 → 같은 캐릭터도 사람마다 다르게 큰다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보스: 억쇠</a:t>
            </a:r>
          </a:p>
        </p:txBody>
      </p:sp>
      <p:sp>
        <p:nvSpPr>
          <p:cNvPr id="3" name="bs_slot_frame"/>
          <p:cNvSpPr/>
          <p:nvPr/>
        </p:nvSpPr>
        <p:spPr>
          <a:xfrm>
            <a:off x="548640" y="1371600"/>
            <a:ext cx="5120640" cy="3840480"/>
          </a:xfrm>
          <a:prstGeom prst="roundRect">
            <a:avLst>
              <a:gd name="adj" fmla="val 4000"/>
            </a:avLst>
          </a:prstGeom>
          <a:solidFill>
            <a:srgbClr val="1A2A4A"/>
          </a:solidFill>
          <a:ln w="15875">
            <a:solidFill>
              <a:srgbClr val="7C86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s_motif"/>
          <p:cNvSpPr txBox="1"/>
          <p:nvPr/>
        </p:nvSpPr>
        <p:spPr>
          <a:xfrm>
            <a:off x="548640" y="53492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외다리 도깨비 · 두억시니 · 귀면와 모티브, 뿔 없는 한국 도깨비</a:t>
            </a:r>
          </a:p>
        </p:txBody>
      </p:sp>
      <p:sp>
        <p:nvSpPr>
          <p:cNvPr id="8" name="bs_line"/>
          <p:cNvSpPr txBox="1"/>
          <p:nvPr/>
        </p:nvSpPr>
        <p:spPr>
          <a:xfrm>
            <a:off x="6035040" y="13716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E1A33"/>
                </a:solidFill>
                <a:latin typeface="맑은 고딕"/>
                <a:ea typeface="맑은 고딕"/>
              </a:rPr>
              <a:t>원귀의 원한을 먹고 커지는 외다리 거구 도깨비</a:t>
            </a:r>
          </a:p>
        </p:txBody>
      </p:sp>
      <p:sp>
        <p:nvSpPr>
          <p:cNvPr id="9" name="bs_enc_0"/>
          <p:cNvSpPr/>
          <p:nvPr/>
        </p:nvSpPr>
        <p:spPr>
          <a:xfrm>
            <a:off x="6035040" y="2103120"/>
            <a:ext cx="5623560" cy="160020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s_enc_bar_0"/>
          <p:cNvSpPr/>
          <p:nvPr/>
        </p:nvSpPr>
        <p:spPr>
          <a:xfrm>
            <a:off x="6035040" y="2103120"/>
            <a:ext cx="91440" cy="16002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s_enc_h_0"/>
          <p:cNvSpPr txBox="1"/>
          <p:nvPr/>
        </p:nvSpPr>
        <p:spPr>
          <a:xfrm>
            <a:off x="6355080" y="226771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E1A33"/>
                </a:solidFill>
                <a:latin typeface="맑은 고딕"/>
                <a:ea typeface="맑은 고딕"/>
              </a:rPr>
              <a:t>5웨이브 · 예행연습</a:t>
            </a:r>
          </a:p>
        </p:txBody>
      </p:sp>
      <p:sp>
        <p:nvSpPr>
          <p:cNvPr id="12" name="bs_enc_a_0"/>
          <p:cNvSpPr txBox="1"/>
          <p:nvPr/>
        </p:nvSpPr>
        <p:spPr>
          <a:xfrm>
            <a:off x="6355080" y="272491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030"/>
                </a:solidFill>
                <a:latin typeface="맑은 고딕"/>
                <a:ea typeface="맑은 고딕"/>
              </a:rPr>
              <a:t>약한 모습으로 나와 패턴을 미리 보여준다</a:t>
            </a:r>
          </a:p>
        </p:txBody>
      </p:sp>
      <p:sp>
        <p:nvSpPr>
          <p:cNvPr id="14" name="bs_enc_1"/>
          <p:cNvSpPr/>
          <p:nvPr/>
        </p:nvSpPr>
        <p:spPr>
          <a:xfrm>
            <a:off x="6035040" y="3886200"/>
            <a:ext cx="5623560" cy="160020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s_enc_bar_1"/>
          <p:cNvSpPr/>
          <p:nvPr/>
        </p:nvSpPr>
        <p:spPr>
          <a:xfrm>
            <a:off x="6035040" y="3886200"/>
            <a:ext cx="91440" cy="16002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s_enc_h_1"/>
          <p:cNvSpPr txBox="1"/>
          <p:nvPr/>
        </p:nvSpPr>
        <p:spPr>
          <a:xfrm>
            <a:off x="6355080" y="4050791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B3262E"/>
                </a:solidFill>
                <a:latin typeface="맑은 고딕"/>
                <a:ea typeface="맑은 고딕"/>
              </a:rPr>
              <a:t>최종전 · 본 시험</a:t>
            </a:r>
          </a:p>
        </p:txBody>
      </p:sp>
      <p:sp>
        <p:nvSpPr>
          <p:cNvPr id="17" name="bs_enc_a_1"/>
          <p:cNvSpPr txBox="1"/>
          <p:nvPr/>
        </p:nvSpPr>
        <p:spPr>
          <a:xfrm>
            <a:off x="6355080" y="450799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030"/>
                </a:solidFill>
                <a:latin typeface="맑은 고딕"/>
                <a:ea typeface="맑은 고딕"/>
              </a:rPr>
              <a:t>쓰러뜨리면 낡은 빗자루로 돌아가며 봉인</a:t>
            </a:r>
          </a:p>
        </p:txBody>
      </p:sp>
      <p:pic>
        <p:nvPicPr>
          <p:cNvPr id="21" name="boss_img" descr="p_b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050" y="1508760"/>
            <a:ext cx="30858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맵: 달밤의 폐장터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C869B"/>
                </a:solidFill>
                <a:latin typeface="맑은 고딕"/>
                <a:ea typeface="맑은 고딕"/>
              </a:rPr>
              <a:t>제작한 타일 21종으로 구성한 40×40 타일맵 (1타일 128px)</a:t>
            </a:r>
          </a:p>
        </p:txBody>
      </p:sp>
      <p:pic>
        <p:nvPicPr>
          <p:cNvPr id="4" name="Picture 3" descr="map_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074920" cy="5074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093976" y="3845052"/>
            <a:ext cx="1984248" cy="310896"/>
          </a:xfrm>
          <a:prstGeom prst="roundRect">
            <a:avLst>
              <a:gd name="adj" fmla="val 5000"/>
            </a:avLst>
          </a:prstGeom>
          <a:solidFill>
            <a:srgbClr val="B326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93976" y="3915861"/>
            <a:ext cx="19842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</a:rPr>
              <a:t>보스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등장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91005" y="1992706"/>
            <a:ext cx="1252728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1005" y="1992706"/>
            <a:ext cx="12527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장터 (멍석)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28465" y="1992706"/>
            <a:ext cx="1252728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8465" y="1992706"/>
            <a:ext cx="12527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장터 (멍석)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6154140"/>
            <a:ext cx="1691640" cy="310896"/>
          </a:xfrm>
          <a:prstGeom prst="roundRect">
            <a:avLst>
              <a:gd name="adj" fmla="val 5000"/>
            </a:avLst>
          </a:prstGeom>
          <a:solidFill>
            <a:srgbClr val="B326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6154140"/>
            <a:ext cx="1691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남쪽 입구 · 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654" y="1535963"/>
            <a:ext cx="521208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8654" y="1535963"/>
            <a:ext cx="5212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대숲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86584" y="1459839"/>
            <a:ext cx="1399032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86584" y="1459839"/>
            <a:ext cx="1399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흙돌담 + 기와</a:t>
            </a:r>
          </a:p>
        </p:txBody>
      </p:sp>
      <p:pic>
        <p:nvPicPr>
          <p:cNvPr id="17" name="Picture 16" descr="clos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463040"/>
            <a:ext cx="246888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39867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확대: 장터 구역 (12×12타일)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34340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432511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중앙 광장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5628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030"/>
                </a:solidFill>
                <a:latin typeface="맑은 고딕"/>
                <a:ea typeface="맑은 고딕"/>
              </a:rPr>
              <a:t>장애물 없는 보스전 공간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89204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48737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장터 4구역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1114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030"/>
                </a:solidFill>
                <a:latin typeface="맑은 고딕"/>
                <a:ea typeface="맑은 고딕"/>
              </a:rPr>
              <a:t>싸리 울타리 + 멍석, 입구는 길 쪽으로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44068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54223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디딤돌 십자길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66013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030"/>
                </a:solidFill>
                <a:latin typeface="맑은 고딕"/>
                <a:ea typeface="맑은 고딕"/>
              </a:rPr>
              <a:t>광장과 네 구역을 잇는 큰 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98932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59710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테두리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62087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030"/>
                </a:solidFill>
                <a:latin typeface="맑은 고딕"/>
                <a:ea typeface="맑은 고딕"/>
              </a:rPr>
              <a:t>흙돌담과 대숲, 넘어갈 수 없음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1371600"/>
            <a:ext cx="3246120" cy="5120640"/>
          </a:xfrm>
          <a:prstGeom prst="roundRect">
            <a:avLst>
              <a:gd name="adj" fmla="val 5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15400" y="1463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E1A33"/>
                </a:solidFill>
                <a:latin typeface="맑은 고딕"/>
                <a:ea typeface="맑은 고딕"/>
              </a:rPr>
              <a:t>사용한 타일</a:t>
            </a:r>
          </a:p>
        </p:txBody>
      </p:sp>
      <p:pic>
        <p:nvPicPr>
          <p:cNvPr id="33" name="Picture 32" descr="t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901952"/>
            <a:ext cx="512064" cy="512064"/>
          </a:xfrm>
          <a:prstGeom prst="rect">
            <a:avLst/>
          </a:prstGeom>
        </p:spPr>
      </p:pic>
      <p:pic>
        <p:nvPicPr>
          <p:cNvPr id="34" name="Picture 33" descr="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328" y="1901952"/>
            <a:ext cx="512064" cy="512064"/>
          </a:xfrm>
          <a:prstGeom prst="rect">
            <a:avLst/>
          </a:prstGeom>
        </p:spPr>
      </p:pic>
      <p:pic>
        <p:nvPicPr>
          <p:cNvPr id="35" name="Picture 34" descr="t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9256" y="1901952"/>
            <a:ext cx="512064" cy="5120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698480" y="1901952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황토 마당</a:t>
            </a:r>
          </a:p>
        </p:txBody>
      </p:sp>
      <p:pic>
        <p:nvPicPr>
          <p:cNvPr id="37" name="Picture 36" descr="t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2551176"/>
            <a:ext cx="512064" cy="512064"/>
          </a:xfrm>
          <a:prstGeom prst="rect">
            <a:avLst/>
          </a:prstGeom>
        </p:spPr>
      </p:pic>
      <p:pic>
        <p:nvPicPr>
          <p:cNvPr id="38" name="Picture 37" descr="t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2328" y="2551176"/>
            <a:ext cx="512064" cy="512064"/>
          </a:xfrm>
          <a:prstGeom prst="rect">
            <a:avLst/>
          </a:prstGeom>
        </p:spPr>
      </p:pic>
      <p:pic>
        <p:nvPicPr>
          <p:cNvPr id="39" name="Picture 38" descr="t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9256" y="2551176"/>
            <a:ext cx="512064" cy="5120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698480" y="2551176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박석 광장</a:t>
            </a:r>
          </a:p>
        </p:txBody>
      </p:sp>
      <p:pic>
        <p:nvPicPr>
          <p:cNvPr id="41" name="Picture 40" descr="t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3200400"/>
            <a:ext cx="512064" cy="512064"/>
          </a:xfrm>
          <a:prstGeom prst="rect">
            <a:avLst/>
          </a:prstGeom>
        </p:spPr>
      </p:pic>
      <p:pic>
        <p:nvPicPr>
          <p:cNvPr id="42" name="Picture 41" descr="t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2328" y="3200400"/>
            <a:ext cx="512064" cy="512064"/>
          </a:xfrm>
          <a:prstGeom prst="rect">
            <a:avLst/>
          </a:prstGeom>
        </p:spPr>
      </p:pic>
      <p:pic>
        <p:nvPicPr>
          <p:cNvPr id="43" name="Picture 42" descr="t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49256" y="3200400"/>
            <a:ext cx="512064" cy="51206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98480" y="3200400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멍석</a:t>
            </a:r>
          </a:p>
        </p:txBody>
      </p:sp>
      <p:pic>
        <p:nvPicPr>
          <p:cNvPr id="45" name="Picture 44" descr="t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5400" y="3849624"/>
            <a:ext cx="512064" cy="512064"/>
          </a:xfrm>
          <a:prstGeom prst="rect">
            <a:avLst/>
          </a:prstGeom>
        </p:spPr>
      </p:pic>
      <p:pic>
        <p:nvPicPr>
          <p:cNvPr id="46" name="Picture 45" descr="t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82328" y="3849624"/>
            <a:ext cx="512064" cy="512064"/>
          </a:xfrm>
          <a:prstGeom prst="rect">
            <a:avLst/>
          </a:prstGeom>
        </p:spPr>
      </p:pic>
      <p:pic>
        <p:nvPicPr>
          <p:cNvPr id="47" name="Picture 46" descr="t1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49256" y="3849624"/>
            <a:ext cx="512064" cy="5120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698480" y="3849624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디딤돌 길</a:t>
            </a:r>
          </a:p>
        </p:txBody>
      </p:sp>
      <p:pic>
        <p:nvPicPr>
          <p:cNvPr id="49" name="Picture 48" descr="t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5400" y="4498848"/>
            <a:ext cx="512064" cy="512064"/>
          </a:xfrm>
          <a:prstGeom prst="rect">
            <a:avLst/>
          </a:prstGeom>
        </p:spPr>
      </p:pic>
      <p:pic>
        <p:nvPicPr>
          <p:cNvPr id="50" name="Picture 49" descr="t1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82328" y="4498848"/>
            <a:ext cx="512064" cy="512064"/>
          </a:xfrm>
          <a:prstGeom prst="rect">
            <a:avLst/>
          </a:prstGeom>
        </p:spPr>
      </p:pic>
      <p:pic>
        <p:nvPicPr>
          <p:cNvPr id="51" name="Picture 50" descr="t1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49256" y="4498848"/>
            <a:ext cx="512064" cy="5120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698480" y="4498848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흙돌담 + 기와</a:t>
            </a:r>
          </a:p>
        </p:txBody>
      </p:sp>
      <p:pic>
        <p:nvPicPr>
          <p:cNvPr id="53" name="Picture 52" descr="t1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15400" y="5148072"/>
            <a:ext cx="512064" cy="512064"/>
          </a:xfrm>
          <a:prstGeom prst="rect">
            <a:avLst/>
          </a:prstGeom>
        </p:spPr>
      </p:pic>
      <p:pic>
        <p:nvPicPr>
          <p:cNvPr id="54" name="Picture 53" descr="t1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82328" y="5148072"/>
            <a:ext cx="512064" cy="512064"/>
          </a:xfrm>
          <a:prstGeom prst="rect">
            <a:avLst/>
          </a:prstGeom>
        </p:spPr>
      </p:pic>
      <p:pic>
        <p:nvPicPr>
          <p:cNvPr id="55" name="Picture 54" descr="t1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49256" y="5148072"/>
            <a:ext cx="512064" cy="51206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698480" y="5148072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대숲</a:t>
            </a:r>
          </a:p>
        </p:txBody>
      </p:sp>
      <p:pic>
        <p:nvPicPr>
          <p:cNvPr id="57" name="Picture 56" descr="t1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15400" y="5797296"/>
            <a:ext cx="512064" cy="512064"/>
          </a:xfrm>
          <a:prstGeom prst="rect">
            <a:avLst/>
          </a:prstGeom>
        </p:spPr>
      </p:pic>
      <p:pic>
        <p:nvPicPr>
          <p:cNvPr id="58" name="Picture 57" descr="t1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82328" y="5797296"/>
            <a:ext cx="512064" cy="512064"/>
          </a:xfrm>
          <a:prstGeom prst="rect">
            <a:avLst/>
          </a:prstGeom>
        </p:spPr>
      </p:pic>
      <p:pic>
        <p:nvPicPr>
          <p:cNvPr id="59" name="Picture 58" descr="t2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49256" y="5797296"/>
            <a:ext cx="512064" cy="51206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698480" y="5797296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싸리 울타리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아트 방향</a:t>
            </a:r>
            <a:endParaRPr lang="en-US" sz="3200" dirty="0"/>
          </a:p>
        </p:txBody>
      </p:sp>
      <p:sp>
        <p:nvSpPr>
          <p:cNvPr id="3" name="art_lineup_card"/>
          <p:cNvSpPr/>
          <p:nvPr/>
        </p:nvSpPr>
        <p:spPr>
          <a:xfrm>
            <a:off x="548640" y="1325880"/>
            <a:ext cx="6949440" cy="4480560"/>
          </a:xfrm>
          <a:prstGeom prst="roundRect">
            <a:avLst>
              <a:gd name="adj" fmla="val 2449"/>
            </a:avLst>
          </a:prstGeom>
          <a:solidFill>
            <a:srgbClr val="1A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art_HaYoung" descr="/tmp/claude-0/-home-claude/d5f48452-305e-51fe-9a7c-9dfa0c30073e/scratchpad/deck/a/HaYo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400525" cy="1737360"/>
          </a:xfrm>
          <a:prstGeom prst="rect">
            <a:avLst/>
          </a:prstGeom>
        </p:spPr>
      </p:pic>
      <p:pic>
        <p:nvPicPr>
          <p:cNvPr id="5" name="art_HanJuwon" descr="/tmp/claude-0/-home-claude/d5f48452-305e-51fe-9a7c-9dfa0c30073e/scratchpad/deck/a/HanJuw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085" y="1691640"/>
            <a:ext cx="1036040" cy="1737360"/>
          </a:xfrm>
          <a:prstGeom prst="rect">
            <a:avLst/>
          </a:prstGeom>
        </p:spPr>
      </p:pic>
      <p:pic>
        <p:nvPicPr>
          <p:cNvPr id="6" name="art_ParkKyuhyuk" descr="/tmp/claude-0/-home-claude/d5f48452-305e-51fe-9a7c-9dfa0c30073e/scratchpad/deck/a/ParkKyuhyu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445" y="1691640"/>
            <a:ext cx="1168769" cy="1737360"/>
          </a:xfrm>
          <a:prstGeom prst="rect">
            <a:avLst/>
          </a:prstGeom>
        </p:spPr>
      </p:pic>
      <p:pic>
        <p:nvPicPr>
          <p:cNvPr id="7" name="art_LeeAra" descr="/tmp/claude-0/-home-claude/d5f48452-305e-51fe-9a7c-9dfa0c30073e/scratchpad/deck/a/LeeA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535" y="1691640"/>
            <a:ext cx="833933" cy="1737360"/>
          </a:xfrm>
          <a:prstGeom prst="rect">
            <a:avLst/>
          </a:prstGeom>
        </p:spPr>
      </p:pic>
      <p:pic>
        <p:nvPicPr>
          <p:cNvPr id="8" name="art_ChoiHwanjo" descr="/tmp/claude-0/-home-claude/d5f48452-305e-51fe-9a7c-9dfa0c30073e/scratchpad/deck/a/ChoiHwanj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94760"/>
            <a:ext cx="1240971" cy="1737360"/>
          </a:xfrm>
          <a:prstGeom prst="rect">
            <a:avLst/>
          </a:prstGeom>
        </p:spPr>
      </p:pic>
      <p:pic>
        <p:nvPicPr>
          <p:cNvPr id="9" name="art_ShinJihyun" descr="/tmp/claude-0/-home-claude/d5f48452-305e-51fe-9a7c-9dfa0c30073e/scratchpad/deck/a/ShinJihyu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531" y="3794760"/>
            <a:ext cx="1039568" cy="1737360"/>
          </a:xfrm>
          <a:prstGeom prst="rect">
            <a:avLst/>
          </a:prstGeom>
        </p:spPr>
      </p:pic>
      <p:pic>
        <p:nvPicPr>
          <p:cNvPr id="10" name="art_LimHoon" descr="/tmp/claude-0/-home-claude/d5f48452-305e-51fe-9a7c-9dfa0c30073e/scratchpad/deck/a/LimHo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6419" y="3794760"/>
            <a:ext cx="1010828" cy="1737360"/>
          </a:xfrm>
          <a:prstGeom prst="rect">
            <a:avLst/>
          </a:prstGeom>
        </p:spPr>
      </p:pic>
      <p:pic>
        <p:nvPicPr>
          <p:cNvPr id="11" name="art_ShimYeore" descr="/tmp/claude-0/-home-claude/d5f48452-305e-51fe-9a7c-9dfa0c30073e/scratchpad/deck/a/ShimYe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1567" y="3794760"/>
            <a:ext cx="1360386" cy="1737360"/>
          </a:xfrm>
          <a:prstGeom prst="rect">
            <a:avLst/>
          </a:prstGeom>
        </p:spPr>
      </p:pic>
      <p:sp>
        <p:nvSpPr>
          <p:cNvPr id="12" name="art_pal_h"/>
          <p:cNvSpPr txBox="1"/>
          <p:nvPr/>
        </p:nvSpPr>
        <p:spPr>
          <a:xfrm>
            <a:off x="80010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색 · 무당의 오색</a:t>
            </a:r>
            <a:endParaRPr lang="en-US" sz="1600" dirty="0"/>
          </a:p>
        </p:txBody>
      </p:sp>
      <p:sp>
        <p:nvSpPr>
          <p:cNvPr id="13" name="art_sw_0"/>
          <p:cNvSpPr/>
          <p:nvPr/>
        </p:nvSpPr>
        <p:spPr>
          <a:xfrm>
            <a:off x="8001000" y="1783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E6FB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art_sw_t_0"/>
          <p:cNvSpPr txBox="1"/>
          <p:nvPr/>
        </p:nvSpPr>
        <p:spPr>
          <a:xfrm>
            <a:off x="7909560" y="25786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청</a:t>
            </a:r>
            <a:endParaRPr lang="en-US" sz="1100" dirty="0"/>
          </a:p>
        </p:txBody>
      </p:sp>
      <p:sp>
        <p:nvSpPr>
          <p:cNvPr id="15" name="art_sw_1"/>
          <p:cNvSpPr/>
          <p:nvPr/>
        </p:nvSpPr>
        <p:spPr>
          <a:xfrm>
            <a:off x="8787384" y="1783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B326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rt_sw_t_1"/>
          <p:cNvSpPr txBox="1"/>
          <p:nvPr/>
        </p:nvSpPr>
        <p:spPr>
          <a:xfrm>
            <a:off x="8695944" y="25786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적</a:t>
            </a:r>
            <a:endParaRPr lang="en-US" sz="1100" dirty="0"/>
          </a:p>
        </p:txBody>
      </p:sp>
      <p:sp>
        <p:nvSpPr>
          <p:cNvPr id="17" name="art_sw_2"/>
          <p:cNvSpPr/>
          <p:nvPr/>
        </p:nvSpPr>
        <p:spPr>
          <a:xfrm>
            <a:off x="9573768" y="1783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rt_sw_t_2"/>
          <p:cNvSpPr txBox="1"/>
          <p:nvPr/>
        </p:nvSpPr>
        <p:spPr>
          <a:xfrm>
            <a:off x="9482328" y="25786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황</a:t>
            </a:r>
            <a:endParaRPr lang="en-US" sz="1100" dirty="0"/>
          </a:p>
        </p:txBody>
      </p:sp>
      <p:sp>
        <p:nvSpPr>
          <p:cNvPr id="19" name="art_sw_3"/>
          <p:cNvSpPr/>
          <p:nvPr/>
        </p:nvSpPr>
        <p:spPr>
          <a:xfrm>
            <a:off x="10360152" y="1783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F2EE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art_sw_4"/>
          <p:cNvSpPr/>
          <p:nvPr/>
        </p:nvSpPr>
        <p:spPr>
          <a:xfrm>
            <a:off x="11146536" y="1783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0A0D1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art_sw_t_3"/>
          <p:cNvSpPr txBox="1"/>
          <p:nvPr/>
        </p:nvSpPr>
        <p:spPr>
          <a:xfrm>
            <a:off x="10268712" y="25786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백</a:t>
            </a:r>
            <a:endParaRPr lang="en-US" sz="1100" dirty="0"/>
          </a:p>
        </p:txBody>
      </p:sp>
      <p:sp>
        <p:nvSpPr>
          <p:cNvPr id="29" name="art_sw_t_4"/>
          <p:cNvSpPr txBox="1"/>
          <p:nvPr/>
        </p:nvSpPr>
        <p:spPr>
          <a:xfrm>
            <a:off x="11055096" y="25786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흑</a:t>
            </a:r>
            <a:endParaRPr lang="en-US" sz="1100" dirty="0"/>
          </a:p>
        </p:txBody>
      </p:sp>
      <p:sp>
        <p:nvSpPr>
          <p:cNvPr id="21" name="art_pt_t_0"/>
          <p:cNvSpPr txBox="1"/>
          <p:nvPr/>
        </p:nvSpPr>
        <p:spPr>
          <a:xfrm>
            <a:off x="80010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무당의 오색</a:t>
            </a:r>
            <a:endParaRPr lang="en-US" sz="1700" dirty="0"/>
          </a:p>
        </p:txBody>
      </p:sp>
      <p:sp>
        <p:nvSpPr>
          <p:cNvPr id="22" name="art_pt_d_0"/>
          <p:cNvSpPr txBox="1"/>
          <p:nvPr/>
        </p:nvSpPr>
        <p:spPr>
          <a:xfrm>
            <a:off x="800100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청 · 적 · 황 · 백 · 흑, 무복과 무구의 색</a:t>
            </a:r>
            <a:endParaRPr lang="en-US" sz="1300" dirty="0"/>
          </a:p>
        </p:txBody>
      </p:sp>
      <p:sp>
        <p:nvSpPr>
          <p:cNvPr id="23" name="art_pt_t_1"/>
          <p:cNvSpPr txBox="1"/>
          <p:nvPr/>
        </p:nvSpPr>
        <p:spPr>
          <a:xfrm>
            <a:off x="80010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밤의 어두운 톤</a:t>
            </a:r>
            <a:endParaRPr lang="en-US" sz="1700" dirty="0"/>
          </a:p>
        </p:txBody>
      </p:sp>
      <p:sp>
        <p:nvSpPr>
          <p:cNvPr id="24" name="art_pt_d_1"/>
          <p:cNvSpPr txBox="1"/>
          <p:nvPr/>
        </p:nvSpPr>
        <p:spPr>
          <a:xfrm>
            <a:off x="80010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깊은 남색 밤 위에 오색과 초롱 불빛이 떠오른다</a:t>
            </a:r>
            <a:endParaRPr lang="en-US" sz="1300" dirty="0"/>
          </a:p>
        </p:txBody>
      </p:sp>
      <p:sp>
        <p:nvSpPr>
          <p:cNvPr id="25" name="art_pt_t_2"/>
          <p:cNvSpPr txBox="1"/>
          <p:nvPr/>
        </p:nvSpPr>
        <p:spPr>
          <a:xfrm>
            <a:off x="800100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고증 디테일</a:t>
            </a:r>
            <a:endParaRPr lang="en-US" sz="1700" dirty="0"/>
          </a:p>
        </p:txBody>
      </p:sp>
      <p:sp>
        <p:nvSpPr>
          <p:cNvPr id="26" name="art_pt_d_2"/>
          <p:cNvSpPr txBox="1"/>
          <p:nvPr/>
        </p:nvSpPr>
        <p:spPr>
          <a:xfrm>
            <a:off x="8000999" y="5257800"/>
            <a:ext cx="3795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애기씨옷, 칠성옷, 철릭 같은 무속·조선 복식과 무구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30" name="art_pt_t_3"/>
          <p:cNvSpPr txBox="1"/>
          <p:nvPr/>
        </p:nvSpPr>
        <p:spPr>
          <a:xfrm>
            <a:off x="800100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도트 방향</a:t>
            </a:r>
            <a:endParaRPr lang="en-US" sz="1700" dirty="0"/>
          </a:p>
        </p:txBody>
      </p:sp>
      <p:sp>
        <p:nvSpPr>
          <p:cNvPr id="31" name="art_pt_d_3"/>
          <p:cNvSpPr txBox="1"/>
          <p:nvPr/>
        </p:nvSpPr>
        <p:spPr>
          <a:xfrm>
            <a:off x="8000999" y="6126480"/>
            <a:ext cx="3795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128px 캔버스 2~3등신 캐릭터 · 128px 탑뷰 타일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타이틀 · 로비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12064" y="1335024"/>
            <a:ext cx="5513832" cy="3133534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titl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40680" cy="306038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181344" y="1335024"/>
            <a:ext cx="5513832" cy="3133534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lobby_h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440680" cy="30603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452628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타이틀 · 문이 열리며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52628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로비 · 걸어 다니며 건물로 들어간다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45313"/>
            <a:ext cx="1005840" cy="7370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28800" y="51206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게임 시작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486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큰 전각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79" y="502920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476" y="5102352"/>
            <a:ext cx="880567" cy="8229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77840" y="51206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스킬 · 캐릭터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5486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상점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502920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6530" y="5102352"/>
            <a:ext cx="600538" cy="8229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26880" y="51206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스토리 저장소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486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69B"/>
                </a:solidFill>
                <a:latin typeface="맑은 고딕"/>
                <a:ea typeface="맑은 고딕"/>
              </a:rPr>
              <a:t>게시판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프로토타입 화면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030"/>
                </a:solidFill>
                <a:latin typeface="맑은 고딕"/>
                <a:ea typeface="맑은 고딕"/>
              </a:rPr>
              <a:t>로비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120640"/>
            <a:ext cx="5394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B2030"/>
                </a:solidFill>
                <a:latin typeface="맑은 고딕"/>
                <a:ea typeface="맑은 고딕"/>
              </a:rPr>
              <a:t>캐릭터 및 스킬 트리 창</a:t>
            </a:r>
            <a:endParaRPr sz="1500" b="1" dirty="0">
              <a:solidFill>
                <a:srgbClr val="1B2030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574940-8203-4323-93A5-13A148BD7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79" y="1656119"/>
            <a:ext cx="5646321" cy="31604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58AB10F-EBA4-4CEB-9C90-E84DD7F0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87051"/>
            <a:ext cx="5825579" cy="32985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프로토타입 화면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33400" y="5120640"/>
            <a:ext cx="5394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B2030"/>
                </a:solidFill>
                <a:latin typeface="맑은 고딕"/>
                <a:ea typeface="맑은 고딕"/>
              </a:rPr>
              <a:t>스토리 보관함</a:t>
            </a:r>
            <a:endParaRPr sz="1500" b="1" dirty="0">
              <a:solidFill>
                <a:srgbClr val="1B2030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63640" y="5120640"/>
            <a:ext cx="5394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B2030"/>
                </a:solidFill>
                <a:latin typeface="맑은 고딕"/>
                <a:ea typeface="맑은 고딕"/>
              </a:rPr>
              <a:t>맵 선택 및 방 입장</a:t>
            </a:r>
            <a:endParaRPr sz="1500" b="1" dirty="0">
              <a:solidFill>
                <a:srgbClr val="1B2030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73B8BA-A294-4251-840E-D196A7BAA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2029783"/>
            <a:ext cx="5212081" cy="27984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7D695A-A8CA-434E-8C8B-8E9FBAA9A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93" y="2084647"/>
            <a:ext cx="5225747" cy="279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30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프로토타입 화면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33400" y="5120640"/>
            <a:ext cx="5394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B2030"/>
                </a:solidFill>
                <a:latin typeface="맑은 고딕"/>
                <a:ea typeface="맑은 고딕"/>
              </a:rPr>
              <a:t>대기실</a:t>
            </a:r>
            <a:endParaRPr sz="1500" b="1" dirty="0">
              <a:solidFill>
                <a:srgbClr val="1B2030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63640" y="5120640"/>
            <a:ext cx="5394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B2030"/>
                </a:solidFill>
                <a:latin typeface="맑은 고딕"/>
                <a:ea typeface="맑은 고딕"/>
              </a:rPr>
              <a:t>맵 </a:t>
            </a:r>
            <a:r>
              <a:rPr lang="ko-KR" altLang="en-US" sz="1500" b="1" dirty="0" err="1">
                <a:solidFill>
                  <a:srgbClr val="1B2030"/>
                </a:solidFill>
                <a:latin typeface="맑은 고딕"/>
                <a:ea typeface="맑은 고딕"/>
              </a:rPr>
              <a:t>컷신</a:t>
            </a:r>
            <a:endParaRPr sz="1500" b="1" dirty="0">
              <a:solidFill>
                <a:srgbClr val="1B2030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621D1B-6365-44A7-A2CA-05103F18B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50" y="2082260"/>
            <a:ext cx="5207060" cy="26934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A36DD23-3E6B-41EB-A1CB-A90A4C319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800" y="1928722"/>
            <a:ext cx="5500120" cy="30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8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프로토타입 화면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428786" y="5286795"/>
            <a:ext cx="5394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 err="1">
                <a:solidFill>
                  <a:srgbClr val="1B2030"/>
                </a:solidFill>
                <a:latin typeface="맑은 고딕"/>
                <a:ea typeface="맑은 고딕"/>
              </a:rPr>
              <a:t>인게임</a:t>
            </a:r>
            <a:r>
              <a:rPr lang="ko-KR" altLang="en-US" sz="1500" b="1" dirty="0">
                <a:solidFill>
                  <a:srgbClr val="1B2030"/>
                </a:solidFill>
                <a:latin typeface="맑은 고딕"/>
                <a:ea typeface="맑은 고딕"/>
              </a:rPr>
              <a:t> 화면</a:t>
            </a:r>
            <a:endParaRPr sz="1500" b="1" dirty="0">
              <a:solidFill>
                <a:srgbClr val="1B2030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243912-BD0A-4054-9003-CE2BFC3AA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702" y="1424140"/>
            <a:ext cx="5787362" cy="353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57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ko-KR" altLang="en-US" dirty="0"/>
              <a:t>개발 목표</a:t>
            </a:r>
            <a:endParaRPr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6" name="Rounded Rectangle 26">
            <a:extLst>
              <a:ext uri="{FF2B5EF4-FFF2-40B4-BE49-F238E27FC236}">
                <a16:creationId xmlns:a16="http://schemas.microsoft.com/office/drawing/2014/main" id="{E6F4B8DA-47A3-4BC7-BB77-8542C46617FC}"/>
              </a:ext>
            </a:extLst>
          </p:cNvPr>
          <p:cNvSpPr/>
          <p:nvPr/>
        </p:nvSpPr>
        <p:spPr>
          <a:xfrm>
            <a:off x="1463040" y="196596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7C1148EA-0620-4919-B18E-9078BEB5AB91}"/>
              </a:ext>
            </a:extLst>
          </p:cNvPr>
          <p:cNvSpPr/>
          <p:nvPr/>
        </p:nvSpPr>
        <p:spPr>
          <a:xfrm>
            <a:off x="1572768" y="2075688"/>
            <a:ext cx="2432304" cy="307238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896D0-77E5-4A38-8F87-AC6922133408}"/>
              </a:ext>
            </a:extLst>
          </p:cNvPr>
          <p:cNvSpPr txBox="1"/>
          <p:nvPr/>
        </p:nvSpPr>
        <p:spPr>
          <a:xfrm>
            <a:off x="1458469" y="2505343"/>
            <a:ext cx="2651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FFFFFF"/>
                </a:solidFill>
                <a:latin typeface="맑은 고딕"/>
                <a:ea typeface="맑은 고딕"/>
              </a:rPr>
              <a:t>프로토타입</a:t>
            </a:r>
            <a:endParaRPr sz="22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90F60-27D0-4F80-B4BD-EEF247AE41BE}"/>
              </a:ext>
            </a:extLst>
          </p:cNvPr>
          <p:cNvSpPr txBox="1"/>
          <p:nvPr/>
        </p:nvSpPr>
        <p:spPr>
          <a:xfrm>
            <a:off x="1694689" y="3123002"/>
            <a:ext cx="2651760" cy="1799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0" dirty="0">
                <a:solidFill>
                  <a:srgbClr val="B8C2D9"/>
                </a:solidFill>
                <a:latin typeface="맑은 고딕"/>
                <a:ea typeface="맑은 고딕"/>
              </a:rPr>
              <a:t>캐릭터 </a:t>
            </a:r>
            <a:r>
              <a:rPr lang="en-US" altLang="ko-KR" sz="1600" dirty="0">
                <a:solidFill>
                  <a:srgbClr val="B8C2D9"/>
                </a:solidFill>
                <a:latin typeface="맑은 고딕"/>
                <a:ea typeface="맑은 고딕"/>
              </a:rPr>
              <a:t>8</a:t>
            </a:r>
            <a:r>
              <a:rPr lang="ko-KR" altLang="en-US" sz="1600" dirty="0">
                <a:solidFill>
                  <a:srgbClr val="B8C2D9"/>
                </a:solidFill>
                <a:latin typeface="맑은 고딕"/>
                <a:ea typeface="맑은 고딕"/>
              </a:rPr>
              <a:t>종 구현</a:t>
            </a:r>
            <a:endParaRPr lang="en-US" altLang="ko-KR" sz="1600" dirty="0">
              <a:solidFill>
                <a:srgbClr val="B8C2D9"/>
              </a:solidFill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dirty="0">
                <a:solidFill>
                  <a:srgbClr val="B8C2D9"/>
                </a:solidFill>
                <a:latin typeface="맑은 고딕"/>
                <a:ea typeface="맑은 고딕"/>
              </a:rPr>
              <a:t>맵 </a:t>
            </a:r>
            <a:r>
              <a:rPr lang="en-US" altLang="ko-KR" sz="1600" b="0" dirty="0">
                <a:solidFill>
                  <a:srgbClr val="B8C2D9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0" dirty="0">
                <a:solidFill>
                  <a:srgbClr val="B8C2D9"/>
                </a:solidFill>
                <a:latin typeface="맑은 고딕"/>
                <a:ea typeface="맑은 고딕"/>
              </a:rPr>
              <a:t>개 이상 구성</a:t>
            </a:r>
            <a:endParaRPr lang="en-US" altLang="ko-KR" sz="1600" b="0" dirty="0">
              <a:solidFill>
                <a:srgbClr val="B8C2D9"/>
              </a:solidFill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dirty="0">
                <a:solidFill>
                  <a:srgbClr val="B8C2D9"/>
                </a:solidFill>
                <a:latin typeface="맑은 고딕"/>
                <a:ea typeface="맑은 고딕"/>
              </a:rPr>
              <a:t>모든 증강 구현</a:t>
            </a:r>
            <a:endParaRPr lang="en-US" altLang="ko-KR" sz="1600" b="0" dirty="0">
              <a:solidFill>
                <a:srgbClr val="B8C2D9"/>
              </a:solidFill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B8C2D9"/>
                </a:solidFill>
                <a:latin typeface="맑은 고딕"/>
                <a:ea typeface="맑은 고딕"/>
              </a:rPr>
              <a:t>멀티플레이 구현</a:t>
            </a:r>
            <a:endParaRPr lang="en-US" altLang="ko-KR" sz="1600" dirty="0">
              <a:solidFill>
                <a:srgbClr val="B8C2D9"/>
              </a:solidFill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B8C2D9"/>
                </a:solidFill>
                <a:latin typeface="맑은 고딕"/>
                <a:ea typeface="맑은 고딕"/>
              </a:rPr>
              <a:t>그 외</a:t>
            </a:r>
            <a:endParaRPr sz="1600" b="0" dirty="0">
              <a:solidFill>
                <a:srgbClr val="B8C2D9"/>
              </a:solidFill>
              <a:latin typeface="맑은 고딕"/>
              <a:ea typeface="맑은 고딕"/>
            </a:endParaRPr>
          </a:p>
        </p:txBody>
      </p:sp>
      <p:sp>
        <p:nvSpPr>
          <p:cNvPr id="12" name="Rounded Rectangle 32">
            <a:extLst>
              <a:ext uri="{FF2B5EF4-FFF2-40B4-BE49-F238E27FC236}">
                <a16:creationId xmlns:a16="http://schemas.microsoft.com/office/drawing/2014/main" id="{BD1A4906-26E4-4A06-ABE0-E10031CCFCF7}"/>
              </a:ext>
            </a:extLst>
          </p:cNvPr>
          <p:cNvSpPr/>
          <p:nvPr/>
        </p:nvSpPr>
        <p:spPr>
          <a:xfrm>
            <a:off x="4709160" y="1965960"/>
            <a:ext cx="2651760" cy="3291840"/>
          </a:xfrm>
          <a:prstGeom prst="roundRect">
            <a:avLst>
              <a:gd name="adj" fmla="val 6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33">
            <a:extLst>
              <a:ext uri="{FF2B5EF4-FFF2-40B4-BE49-F238E27FC236}">
                <a16:creationId xmlns:a16="http://schemas.microsoft.com/office/drawing/2014/main" id="{941D70DE-035B-460C-985E-7D3C76697944}"/>
              </a:ext>
            </a:extLst>
          </p:cNvPr>
          <p:cNvSpPr/>
          <p:nvPr/>
        </p:nvSpPr>
        <p:spPr>
          <a:xfrm>
            <a:off x="4818888" y="2075688"/>
            <a:ext cx="2432304" cy="307238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E92444-CF86-4CCD-A0A1-24FEC5A64DE3}"/>
              </a:ext>
            </a:extLst>
          </p:cNvPr>
          <p:cNvSpPr txBox="1"/>
          <p:nvPr/>
        </p:nvSpPr>
        <p:spPr>
          <a:xfrm>
            <a:off x="4704588" y="2457057"/>
            <a:ext cx="2651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FFFFFF"/>
                </a:solidFill>
                <a:latin typeface="맑은 고딕"/>
                <a:ea typeface="맑은 고딕"/>
              </a:rPr>
              <a:t>알파</a:t>
            </a:r>
            <a:endParaRPr sz="22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7EE499-A232-4901-8C30-11184E498472}"/>
              </a:ext>
            </a:extLst>
          </p:cNvPr>
          <p:cNvSpPr txBox="1"/>
          <p:nvPr/>
        </p:nvSpPr>
        <p:spPr>
          <a:xfrm>
            <a:off x="4875276" y="3176980"/>
            <a:ext cx="2310383" cy="1799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0" dirty="0">
                <a:latin typeface="맑은 고딕"/>
                <a:ea typeface="맑은 고딕"/>
              </a:rPr>
              <a:t>캐릭터 </a:t>
            </a:r>
            <a:r>
              <a:rPr lang="en-US" altLang="ko-KR" sz="1600" b="0" dirty="0">
                <a:latin typeface="맑은 고딕"/>
                <a:ea typeface="맑은 고딕"/>
              </a:rPr>
              <a:t>2 </a:t>
            </a:r>
            <a:r>
              <a:rPr lang="ko-KR" altLang="en-US" sz="1600" b="0" dirty="0">
                <a:latin typeface="맑은 고딕"/>
                <a:ea typeface="맑은 고딕"/>
              </a:rPr>
              <a:t>종 추가</a:t>
            </a:r>
            <a:endParaRPr lang="en-US" altLang="ko-KR" sz="1600" b="0" dirty="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dirty="0">
                <a:latin typeface="맑은 고딕"/>
                <a:ea typeface="맑은 고딕"/>
              </a:rPr>
              <a:t>캐릭터 스킬 트리 추가</a:t>
            </a:r>
            <a:endParaRPr lang="en-US" altLang="ko-KR" sz="1600" dirty="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dirty="0">
                <a:latin typeface="맑은 고딕"/>
                <a:ea typeface="맑은 고딕"/>
              </a:rPr>
              <a:t>몬스터 드랍 아이템 추가</a:t>
            </a:r>
            <a:endParaRPr lang="en-US" altLang="ko-KR" sz="1600" b="0" dirty="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endParaRPr lang="en-US" altLang="ko-KR" sz="1600" b="0" dirty="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endParaRPr sz="1600" b="0" dirty="0">
              <a:latin typeface="맑은 고딕"/>
              <a:ea typeface="맑은 고딕"/>
            </a:endParaRPr>
          </a:p>
        </p:txBody>
      </p:sp>
      <p:sp>
        <p:nvSpPr>
          <p:cNvPr id="18" name="Rounded Rectangle 38">
            <a:extLst>
              <a:ext uri="{FF2B5EF4-FFF2-40B4-BE49-F238E27FC236}">
                <a16:creationId xmlns:a16="http://schemas.microsoft.com/office/drawing/2014/main" id="{1B6542B1-6AF6-40A0-8F5D-360AF659E1BE}"/>
              </a:ext>
            </a:extLst>
          </p:cNvPr>
          <p:cNvSpPr/>
          <p:nvPr/>
        </p:nvSpPr>
        <p:spPr>
          <a:xfrm>
            <a:off x="7955279" y="1965960"/>
            <a:ext cx="2651760" cy="3291840"/>
          </a:xfrm>
          <a:prstGeom prst="roundRect">
            <a:avLst>
              <a:gd name="adj" fmla="val 6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39">
            <a:extLst>
              <a:ext uri="{FF2B5EF4-FFF2-40B4-BE49-F238E27FC236}">
                <a16:creationId xmlns:a16="http://schemas.microsoft.com/office/drawing/2014/main" id="{4383C040-E12B-4A85-B629-361D81A348C2}"/>
              </a:ext>
            </a:extLst>
          </p:cNvPr>
          <p:cNvSpPr/>
          <p:nvPr/>
        </p:nvSpPr>
        <p:spPr>
          <a:xfrm>
            <a:off x="8065007" y="2075688"/>
            <a:ext cx="2432304" cy="307238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768132-BDB3-4E77-B22B-FBE289C5502F}"/>
              </a:ext>
            </a:extLst>
          </p:cNvPr>
          <p:cNvSpPr txBox="1"/>
          <p:nvPr/>
        </p:nvSpPr>
        <p:spPr>
          <a:xfrm>
            <a:off x="7946136" y="2435870"/>
            <a:ext cx="2651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FFFFFF"/>
                </a:solidFill>
                <a:latin typeface="맑은 고딕"/>
                <a:ea typeface="맑은 고딕"/>
              </a:rPr>
              <a:t>베타</a:t>
            </a:r>
            <a:endParaRPr sz="22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10C8B7-9D2D-4AF3-B3C6-D8EFC3CDF987}"/>
              </a:ext>
            </a:extLst>
          </p:cNvPr>
          <p:cNvSpPr txBox="1"/>
          <p:nvPr/>
        </p:nvSpPr>
        <p:spPr>
          <a:xfrm>
            <a:off x="8186928" y="3176980"/>
            <a:ext cx="2319526" cy="1060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/>
                <a:ea typeface="맑은 고딕"/>
              </a:rPr>
              <a:t>DLC </a:t>
            </a:r>
            <a:r>
              <a:rPr lang="ko-KR" altLang="en-US" sz="1600" dirty="0">
                <a:latin typeface="맑은 고딕"/>
                <a:ea typeface="맑은 고딕"/>
              </a:rPr>
              <a:t>추가</a:t>
            </a:r>
            <a:endParaRPr lang="en-US" altLang="ko-KR" sz="1600" dirty="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/>
                <a:ea typeface="맑은 고딕"/>
              </a:rPr>
              <a:t>맵 </a:t>
            </a:r>
            <a:r>
              <a:rPr lang="en-US" altLang="ko-KR" sz="1600" dirty="0">
                <a:latin typeface="맑은 고딕"/>
                <a:ea typeface="맑은 고딕"/>
              </a:rPr>
              <a:t>6</a:t>
            </a:r>
            <a:r>
              <a:rPr lang="ko-KR" altLang="en-US" sz="1600" dirty="0">
                <a:latin typeface="맑은 고딕"/>
                <a:ea typeface="맑은 고딕"/>
              </a:rPr>
              <a:t>개 이상 구성</a:t>
            </a:r>
            <a:endParaRPr lang="en-US" altLang="ko-KR" sz="1600" dirty="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/>
                <a:ea typeface="맑은 고딕"/>
              </a:rPr>
              <a:t>더 다양한 스토리 추가</a:t>
            </a:r>
            <a:endParaRPr lang="en-US" altLang="ko-KR" sz="1600" dirty="0">
              <a:latin typeface="맑은 고딕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DC52CD-C537-45F4-B2E4-E02BD2AB8180}"/>
              </a:ext>
            </a:extLst>
          </p:cNvPr>
          <p:cNvSpPr txBox="1"/>
          <p:nvPr/>
        </p:nvSpPr>
        <p:spPr>
          <a:xfrm>
            <a:off x="1537903" y="1540651"/>
            <a:ext cx="2651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200" b="1">
                <a:latin typeface="맑은 고딕"/>
                <a:ea typeface="맑은 고딕"/>
              </a:rPr>
              <a:t>현재 개발 진행</a:t>
            </a:r>
            <a:endParaRPr sz="2200" b="1" dirty="0">
              <a:latin typeface="맑은 고딕"/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D21521-5F00-4A88-9E1A-6D7D5748A804}"/>
              </a:ext>
            </a:extLst>
          </p:cNvPr>
          <p:cNvSpPr txBox="1"/>
          <p:nvPr/>
        </p:nvSpPr>
        <p:spPr>
          <a:xfrm>
            <a:off x="4704588" y="1537864"/>
            <a:ext cx="2651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200" b="1">
                <a:latin typeface="맑은 고딕"/>
                <a:ea typeface="맑은 고딕"/>
              </a:rPr>
              <a:t>발표회 목표</a:t>
            </a:r>
            <a:endParaRPr sz="2200" b="1" dirty="0">
              <a:latin typeface="맑은 고딕"/>
              <a:ea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905D2-D948-4811-9D32-41530D494D1A}"/>
              </a:ext>
            </a:extLst>
          </p:cNvPr>
          <p:cNvSpPr txBox="1"/>
          <p:nvPr/>
        </p:nvSpPr>
        <p:spPr>
          <a:xfrm>
            <a:off x="8065007" y="1491806"/>
            <a:ext cx="2651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200" b="1" dirty="0">
                <a:latin typeface="맑은 고딕"/>
                <a:ea typeface="맑은 고딕"/>
              </a:rPr>
              <a:t>추후개발</a:t>
            </a:r>
            <a:endParaRPr sz="22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2181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_title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</a:rPr>
              <a:t>감사합니다</a:t>
            </a:r>
            <a:endParaRPr lang="en-US" sz="6000" dirty="0"/>
          </a:p>
        </p:txBody>
      </p:sp>
      <p:sp>
        <p:nvSpPr>
          <p:cNvPr id="3" name="end_sub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6"/>
                </a:solidFill>
              </a:rPr>
              <a:t>천명  ·  박진감 넘치는 예섭이의 지원요청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onmyeong Night">
  <a:themeElements>
    <a:clrScheme name="Cheonmyeong Night">
      <a:dk1>
        <a:srgbClr val="1B2030"/>
      </a:dk1>
      <a:lt1>
        <a:srgbClr val="FFFFFF"/>
      </a:lt1>
      <a:dk2>
        <a:srgbClr val="0E1A33"/>
      </a:dk2>
      <a:lt2>
        <a:srgbClr val="EDF0F5"/>
      </a:lt2>
      <a:accent1>
        <a:srgbClr val="B3262E"/>
      </a:accent1>
      <a:accent2>
        <a:srgbClr val="D9A441"/>
      </a:accent2>
      <a:accent3>
        <a:srgbClr val="3E6FB0"/>
      </a:accent3>
      <a:accent4>
        <a:srgbClr val="4F8A66"/>
      </a:accent4>
      <a:accent5>
        <a:srgbClr val="7C869B"/>
      </a:accent5>
      <a:accent6>
        <a:srgbClr val="E9DEC0"/>
      </a:accent6>
      <a:hlink>
        <a:srgbClr val="3E6FB0"/>
      </a:hlink>
      <a:folHlink>
        <a:srgbClr val="7C869B"/>
      </a:folHlink>
    </a:clrScheme>
    <a:fontScheme name="Cheonmyeong Nigh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2168</Words>
  <Application>Microsoft Office PowerPoint</Application>
  <PresentationFormat>와이드스크린</PresentationFormat>
  <Paragraphs>409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맑은 고딕</vt:lpstr>
      <vt:lpstr>Arial</vt:lpstr>
      <vt:lpstr>Cheonmyeong Night</vt:lpstr>
      <vt:lpstr>PowerPoint 프레젠테이션</vt:lpstr>
      <vt:lpstr>팀원 소개</vt:lpstr>
      <vt:lpstr>개요</vt:lpstr>
      <vt:lpstr>우리 게임의 모습</vt:lpstr>
      <vt:lpstr>시장 분석 · 뱀서라이크</vt:lpstr>
      <vt:lpstr>레퍼런스 게임</vt:lpstr>
      <vt:lpstr>레퍼런스 흥행 이유</vt:lpstr>
      <vt:lpstr>레퍼런스에서 가져온 것</vt:lpstr>
      <vt:lpstr>핵심 특징</vt:lpstr>
      <vt:lpstr>차이점 · 둘이어야 하는 이유</vt:lpstr>
      <vt:lpstr>게임 플로우 · 한 판</vt:lpstr>
      <vt:lpstr>게임 플로우 · 한 웨이브</vt:lpstr>
      <vt:lpstr>싸우는 방식 · 자동 공격</vt:lpstr>
      <vt:lpstr>쓰러지면 · 관전</vt:lpstr>
      <vt:lpstr>원한</vt:lpstr>
      <vt:lpstr>원귀 3종</vt:lpstr>
      <vt:lpstr>캐릭터 구성</vt:lpstr>
      <vt:lpstr>성장 · 판 안</vt:lpstr>
      <vt:lpstr>성장 · 판 밖</vt:lpstr>
      <vt:lpstr>보스: 억쇠</vt:lpstr>
      <vt:lpstr>맵: 달밤의 폐장터</vt:lpstr>
      <vt:lpstr>아트 방향</vt:lpstr>
      <vt:lpstr>타이틀 · 로비</vt:lpstr>
      <vt:lpstr>프로토타입 화면</vt:lpstr>
      <vt:lpstr>프로토타입 화면</vt:lpstr>
      <vt:lpstr>프로토타입 화면</vt:lpstr>
      <vt:lpstr>프로토타입 화면</vt:lpstr>
      <vt:lpstr>개발 목표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천명 게임 소개서</dc:title>
  <dc:subject>PptxGenJS Presentation</dc:subject>
  <dc:creator>박진감 넘치는 예섭이의 지원요청</dc:creator>
  <cp:lastModifiedBy>지원 정</cp:lastModifiedBy>
  <cp:revision>16</cp:revision>
  <dcterms:created xsi:type="dcterms:W3CDTF">2026-10-12T16:56:09Z</dcterms:created>
  <dcterms:modified xsi:type="dcterms:W3CDTF">2026-10-13T05:55:33Z</dcterms:modified>
</cp:coreProperties>
</file>